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640dee3-67f0-64d1-d0a5-067fd4f8880b}">
          <p14:sldIdLst>
            <p14:sldId id="256"/>
          </p14:sldIdLst>
        </p14:section>
        <p14:section name="Código" id="{5e431629-4b26-edd8-6c2d-75b9564ea066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Demonstração" id="{11797817-fdf2-a5bc-96b0-15022afe3ce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15 segundos.
Neste marco, acrescentamos o cadastro e a edição de tarefas e projetos, gravando na API. No painel à direita estão as issues 16 a 22, que são o escopo do Marco 3. Vamos mostrar o código principal de cada uma, explicar o que ele faz e fechar com uma demonstração rápida. A apresentação tem no máximo 5 minutos.
Fontes:
https://github.com/andreybueno-git/projeto-g2-frontend/blob/da6d070/README.md
Issue da apresentação: https://github.com/andreybueno-git/projeto-g2-frontend/issues/23
Trechos com quebras de linha ajustadas para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30 segundos.
Issue 16: o módulo da API passou a ter funções de escrita para tarefas e projetos. Este trecho cria uma tarefa.
1) A assinatura diz que a função recebe os dados da nova tarefa e devolve uma Promise de Tarefa, com o id gerado pela API.
2) requisitar é a função do módulo que faz a chamada; o método POST significa criar um registro em /tarefas.
3) O cabeçalho Content-Type avisa que o corpo é JSON, e JSON.stringify transforma o objeto dados em texto JSON.
Para atualizar, a ideia é a mesma, mas com PATCH.
Fontes:
https://github.com/andreybueno-git/projeto-g2-frontend/blob/da6d070/src/lib/servicos/api.ts
https://github.com/andreybueno-git/projeto-g2-frontend/blob/da6d070/src/tipos.ts
Issue da apresentação: https://github.com/andreybueno-git/projeto-g2-frontend/issues/23
Trechos com quebras de linha ajustadas para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35 segundos.
Issues 17 e 18: a rota /tarefas/nova abre o cadastro, e o formulário é o componente reutilizável FormularioTarefa.
1) Ao chegar pela página de um projeto, o link leva o projetoId na URL. page.url.searchParams.get lê esse valor, e $derived recalcula sozinho se a URL mudar. O sistema confere se o id existe entre as opções da API, e a seleção automática acontece no $effect.
2) O select usa bind:value: a escolha do usuário fica guardada em dados.projetoId. O atributo required impede enviar sem projeto.
3) A primeira option é só um texto-guia, desabilitada: aparece, mas não dá para escolher.
4) {#each} cria uma option para cada projeto vindo da API, e o id do projeto é a chave de cada item.
Ao salvar, a tarefa é criada e voltamos para a lista. O slide mostra dois trechos do mesmo arquivo.
Fontes:
https://github.com/andreybueno-git/projeto-g2-frontend/blob/da6d070/src/routes/tarefas/nova/+page.svelte
Issue da apresentação: https://github.com/andreybueno-git/projeto-g2-frontend/issues/23
Trechos com quebras de linha ajustadas para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35 segundos.
Issues 17 e 19: a rota /tarefas/[id]/editar busca a tarefa pelo id da URL e usa o mesmo FormularioTarefa do cadastro.
1) valorInicial recebe a tarefa e preenche os campos com os dados atuais.
2) textoEnvio muda o texto do botão para "Salvar alterações"; enviando e erro vêm do estado da tela e controlam o botão e a mensagem de falha.
3) onenviar={salvar}: quando a pessoa envia, o formulário chama o callback salvar.
4) salvar chama atualizarTarefa, que grava na API, e depois goto abre a página de detalhe da tarefa.
O slide reúne o uso do componente e duas linhas da função salvar. Observação para a conferência: a rota está no PR #60, embora a issue #19 ainda apareça aberta.
Fontes:
https://github.com/andreybueno-git/projeto-g2-frontend/blob/da6d070/src/routes/tarefas/[id]/editar/+page.svelte
https://github.com/andreybueno-git/projeto-g2-frontend/blob/da6d070/src/lib/componentes/FormularioTarefa.svelte
Issue da apresentação: https://github.com/andreybueno-git/projeto-g2-frontend/issues/23
Trechos com quebras de linha ajustadas para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35 segundos.
Issue 22: cadastro e edição de projeto seguem o mesmo fluxo das tarefas, e as duas telas usam o mesmo FormularioProjeto, com nome, descrição e disciplina.
1) No cadastro, os campos começam vazios. Na edição, o formulário recebe os dados do projeto.
2) salvar é assíncrona: espera criarProjeto, que grava os campos do formulário (...dados) e acrescenta criadoEm com hojeLocal, que usa o fuso do computador. O id é gerado pela API.
3) salvar devolve o endereço da página do projeto criado, e encodeURIComponent deixa o id seguro para a URL.
Na edição, comparamos os campos e enviamos apenas as alterações, mantendo o id e a data de criação.
Fontes:
https://github.com/andreybueno-git/projeto-g2-frontend/blob/da6d070/src/routes/projetos/novo/+page.svelte
https://github.com/andreybueno-git/projeto-g2-frontend/blob/da6d070/src/routes/projetos/[id]/editar/+page.svelte
https://github.com/andreybueno-git/projeto-g2-frontend/blob/da6d070/src/lib/componentes/FormularioProjeto.svelte
https://github.com/andreybueno-git/projeto-g2-frontend/blob/da6d070/src/lib/utils/projetos.ts
Issue da apresentação: https://github.com/andreybueno-git/projeto-g2-frontend/issues/23
Trechos com quebras de linha ajustadas para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30 segundos.
Issue 20: validação e proteção contra envio duplo.
1) O input usa bind:value para ligar o campo ao estado dados.titulo, e required faz o navegador impedir o envio com o campo vazio.
2) O botão recebe disabled quando enviando ou carregandoProjetos é verdadeiro, então a pessoa não consegue enviar duas vezes nem antes de os projetos carregarem.
3) O texto do botão muda para "Salvando..." durante o envio; fora dele, mostra o textoEnvio recebido (por exemplo, "Salvar alterações").
Se a API falhar, os formulários mostram um erro em texto.
Observação: no projeto, a validação retira espaços das pontas. A issue #20 ainda estava aberta; este slide descreve o código existente, sem afirmar que todos os critérios da issue foram revisados. A descrição é obrigatória no cadastro de tarefa e opcional no componente usado pela edição.
Fontes:
https://github.com/andreybueno-git/projeto-g2-frontend/blob/da6d070/src/lib/componentes/FormularioTarefa.svelte
https://github.com/andreybueno-git/projeto-g2-frontend/blob/da6d070/src/lib/componentes/FormularioProjeto.svelte
https://github.com/andreybueno-git/projeto-g2-frontend/blob/da6d070/src/routes/tarefas/nova/+page.svelte
Issue da apresentação: https://github.com/andreybueno-git/projeto-g2-frontend/issues/23
Trechos com quebras de linha ajustadas para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40 segundos.
Issue 21: o erro precisa ser perceptível sem depender só de cor, e o formulário precisa funcionar pelo teclado.
1) role="alert" permite que leitores de tela anunciem o aviso assim que ele aparece.
2) insertAdjacentElement com 'afterend' coloca a mensagem logo depois do campo, ou seja, o erro aparece junto ao campo, em texto.
3) aria-describedby associa a mensagem ao campo; o array junta as descrições que já existiam com o id da mensagem, e filter(Boolean) descarta os valores vazios.
4) aria-invalid="true" indica que o valor está incorreto.
Após corrigir, o erro desaparece. Cada campo mantém seu label, mantivemos o foco nativo no primeiro campo inválido e verificamos Tab e Enter. Os testes automatizados conferiram os atributos ARIA, mas não fizemos teste com leitor de tela real. O PR #61 está integrado à main.
Fontes:
https://github.com/andreybueno-git/projeto-g2-frontend/blob/da6d070/src/lib/utils/acessibilidadeFormulario.ts
https://github.com/andreybueno-git/projeto-g2-frontend/blob/da6d070/src/lib/componentes/FormularioTarefa.svelte
https://github.com/andreybueno-git/projeto-g2-frontend/blob/da6d070/src/routes/tarefas/nova/+page.svelte
Issue da apresentação: https://github.com/andreybueno-git/projeto-g2-frontend/issues/23
Trechos com quebras de linha ajustadas para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75 segundos.
Antes da apresentação, rodar npm run dev e npm run api em terminais separados. Abrir http://localhost:5173.
De 0 a 15 segundos: cadastrar um projeto simples e abrir seu detalhe (issue 22).
De 15 a 30: abrir Nova tarefa a partir do projeto e mostrar o projeto já selecionado (issue 18).
De 30 a 50: enviar vazio, mostrar o erro junto ao campo e o foco, preencher e salvar (issues 20 e 21).
De 50 a 75: abrir a tarefa, editar o título e salvar, conferindo no detalhe (issue 19).
Usar Tab para navegar e Enter para enviar.
Tempo total planejado: 4 minutos e 55 segundos (limite do marco: 5 minutos).
Fontes:
https://github.com/andreybueno-git/projeto-g2-frontend/blob/da6d070/src/routes/projetos/novo/+page.svelte
https://github.com/andreybueno-git/projeto-g2-frontend/blob/da6d070/src/routes/tarefas/nova/+page.svelte
https://github.com/andreybueno-git/projeto-g2-frontend/blob/da6d070/src/routes/tarefas/[id]/editar/+page.svelte
Issue da apresentação: https://github.com/andreybueno-git/projeto-g2-frontend/issues/23
Trechos com quebras de linha ajustadas para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Equipe Mentalista? · Desenvolvimento Frontend, 2026.2 · Marco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nto da janela"/>
          <p:cNvSpPr/>
          <p:nvPr/>
        </p:nvSpPr>
        <p:spPr>
          <a:xfrm>
            <a:off x="548640" y="77724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Ponto da janela"/>
          <p:cNvSpPr/>
          <p:nvPr/>
        </p:nvSpPr>
        <p:spPr>
          <a:xfrm>
            <a:off x="731520" y="77724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onto da janela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arco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chemeClr val="accent1"/>
                </a:solidFill>
              </a:rPr>
              <a:t>MARCO 3</a:t>
            </a:r>
            <a:endParaRPr lang="en-US" sz="16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8288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Cadastro e edição</a:t>
            </a:r>
            <a:endParaRPr lang="en-US" sz="52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926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Projetos e tarefas no gerenciador</a:t>
            </a:r>
            <a:endParaRPr lang="en-US" sz="2200" dirty="0"/>
          </a:p>
        </p:txBody>
      </p:sp>
      <p:sp>
        <p:nvSpPr>
          <p:cNvPr id="8" name="Equipe"/>
          <p:cNvSpPr txBox="1"/>
          <p:nvPr/>
        </p:nvSpPr>
        <p:spPr>
          <a:xfrm>
            <a:off x="548640" y="5120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Equipe Mentalista?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Desenvolvimento Frontend, 2026.2</a:t>
            </a:r>
            <a:endParaRPr lang="en-US" sz="1800" dirty="0"/>
          </a:p>
        </p:txBody>
      </p:sp>
      <p:sp>
        <p:nvSpPr>
          <p:cNvPr id="9" name="Painel de issues"/>
          <p:cNvSpPr/>
          <p:nvPr/>
        </p:nvSpPr>
        <p:spPr>
          <a:xfrm>
            <a:off x="7040880" y="822960"/>
            <a:ext cx="4599432" cy="5212080"/>
          </a:xfrm>
          <a:prstGeom prst="roundRect">
            <a:avLst>
              <a:gd name="adj" fmla="val 39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ítulo do painel"/>
          <p:cNvSpPr txBox="1"/>
          <p:nvPr/>
        </p:nvSpPr>
        <p:spPr>
          <a:xfrm>
            <a:off x="7406640" y="109728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entregamos neste marco</a:t>
            </a:r>
            <a:endParaRPr lang="en-US" sz="2000" dirty="0"/>
          </a:p>
        </p:txBody>
      </p:sp>
      <p:sp>
        <p:nvSpPr>
          <p:cNvPr id="11" name="Issue 16 (forma)"/>
          <p:cNvSpPr/>
          <p:nvPr/>
        </p:nvSpPr>
        <p:spPr>
          <a:xfrm>
            <a:off x="7406640" y="1737360"/>
            <a:ext cx="420624" cy="420624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ssue 16"/>
          <p:cNvSpPr txBox="1"/>
          <p:nvPr/>
        </p:nvSpPr>
        <p:spPr>
          <a:xfrm>
            <a:off x="74066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16</a:t>
            </a:r>
            <a:endParaRPr lang="en-US" sz="1400" dirty="0"/>
          </a:p>
        </p:txBody>
      </p:sp>
      <p:sp>
        <p:nvSpPr>
          <p:cNvPr id="13" name="Texto da issue 16"/>
          <p:cNvSpPr txBox="1"/>
          <p:nvPr/>
        </p:nvSpPr>
        <p:spPr>
          <a:xfrm>
            <a:off x="8001000" y="1737360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API: gravar tarefas e projetos</a:t>
            </a:r>
            <a:endParaRPr lang="en-US" sz="1600" dirty="0"/>
          </a:p>
        </p:txBody>
      </p:sp>
      <p:sp>
        <p:nvSpPr>
          <p:cNvPr id="14" name="Issue 17 (forma)"/>
          <p:cNvSpPr/>
          <p:nvPr/>
        </p:nvSpPr>
        <p:spPr>
          <a:xfrm>
            <a:off x="7406640" y="2322576"/>
            <a:ext cx="420624" cy="420624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Issue 17"/>
          <p:cNvSpPr txBox="1"/>
          <p:nvPr/>
        </p:nvSpPr>
        <p:spPr>
          <a:xfrm>
            <a:off x="740664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17</a:t>
            </a:r>
            <a:endParaRPr lang="en-US" sz="1400" dirty="0"/>
          </a:p>
        </p:txBody>
      </p:sp>
      <p:sp>
        <p:nvSpPr>
          <p:cNvPr id="16" name="Texto da issue 17"/>
          <p:cNvSpPr txBox="1"/>
          <p:nvPr/>
        </p:nvSpPr>
        <p:spPr>
          <a:xfrm>
            <a:off x="8001000" y="232257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Formulário de tarefa reutilizável</a:t>
            </a:r>
            <a:endParaRPr lang="en-US" sz="1600" dirty="0"/>
          </a:p>
        </p:txBody>
      </p:sp>
      <p:sp>
        <p:nvSpPr>
          <p:cNvPr id="17" name="Issue 18 (forma)"/>
          <p:cNvSpPr/>
          <p:nvPr/>
        </p:nvSpPr>
        <p:spPr>
          <a:xfrm>
            <a:off x="7406640" y="2907792"/>
            <a:ext cx="420624" cy="420624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Issue 18"/>
          <p:cNvSpPr txBox="1"/>
          <p:nvPr/>
        </p:nvSpPr>
        <p:spPr>
          <a:xfrm>
            <a:off x="740664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18</a:t>
            </a:r>
            <a:endParaRPr lang="en-US" sz="1400" dirty="0"/>
          </a:p>
        </p:txBody>
      </p:sp>
      <p:sp>
        <p:nvSpPr>
          <p:cNvPr id="19" name="Texto da issue 18"/>
          <p:cNvSpPr txBox="1"/>
          <p:nvPr/>
        </p:nvSpPr>
        <p:spPr>
          <a:xfrm>
            <a:off x="8001000" y="2907792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Tela de nova tarefa</a:t>
            </a:r>
            <a:endParaRPr lang="en-US" sz="1600" dirty="0"/>
          </a:p>
        </p:txBody>
      </p:sp>
      <p:sp>
        <p:nvSpPr>
          <p:cNvPr id="20" name="Issue 19 (forma)"/>
          <p:cNvSpPr/>
          <p:nvPr/>
        </p:nvSpPr>
        <p:spPr>
          <a:xfrm>
            <a:off x="7406640" y="3493008"/>
            <a:ext cx="420624" cy="420624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Issue 19"/>
          <p:cNvSpPr txBox="1"/>
          <p:nvPr/>
        </p:nvSpPr>
        <p:spPr>
          <a:xfrm>
            <a:off x="740664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19</a:t>
            </a:r>
            <a:endParaRPr lang="en-US" sz="1400" dirty="0"/>
          </a:p>
        </p:txBody>
      </p:sp>
      <p:sp>
        <p:nvSpPr>
          <p:cNvPr id="22" name="Texto da issue 19"/>
          <p:cNvSpPr txBox="1"/>
          <p:nvPr/>
        </p:nvSpPr>
        <p:spPr>
          <a:xfrm>
            <a:off x="8001000" y="3493008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Tela de edição de tarefa</a:t>
            </a:r>
            <a:endParaRPr lang="en-US" sz="1600" dirty="0"/>
          </a:p>
        </p:txBody>
      </p:sp>
      <p:sp>
        <p:nvSpPr>
          <p:cNvPr id="23" name="Issue 20 (forma)"/>
          <p:cNvSpPr/>
          <p:nvPr/>
        </p:nvSpPr>
        <p:spPr>
          <a:xfrm>
            <a:off x="7406640" y="4078224"/>
            <a:ext cx="420624" cy="420624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Issue 20"/>
          <p:cNvSpPr txBox="1"/>
          <p:nvPr/>
        </p:nvSpPr>
        <p:spPr>
          <a:xfrm>
            <a:off x="7406640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20</a:t>
            </a:r>
            <a:endParaRPr lang="en-US" sz="1400" dirty="0"/>
          </a:p>
        </p:txBody>
      </p:sp>
      <p:sp>
        <p:nvSpPr>
          <p:cNvPr id="25" name="Texto da issue 20"/>
          <p:cNvSpPr txBox="1"/>
          <p:nvPr/>
        </p:nvSpPr>
        <p:spPr>
          <a:xfrm>
            <a:off x="8001000" y="4078224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Validação do formulário</a:t>
            </a:r>
            <a:endParaRPr lang="en-US" sz="1600" dirty="0"/>
          </a:p>
        </p:txBody>
      </p:sp>
      <p:sp>
        <p:nvSpPr>
          <p:cNvPr id="26" name="Issue 21 (forma)"/>
          <p:cNvSpPr/>
          <p:nvPr/>
        </p:nvSpPr>
        <p:spPr>
          <a:xfrm>
            <a:off x="7406640" y="4663440"/>
            <a:ext cx="420624" cy="420624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Issue 21"/>
          <p:cNvSpPr txBox="1"/>
          <p:nvPr/>
        </p:nvSpPr>
        <p:spPr>
          <a:xfrm>
            <a:off x="740664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21</a:t>
            </a:r>
            <a:endParaRPr lang="en-US" sz="1400" dirty="0"/>
          </a:p>
        </p:txBody>
      </p:sp>
      <p:sp>
        <p:nvSpPr>
          <p:cNvPr id="28" name="Texto da issue 21"/>
          <p:cNvSpPr txBox="1"/>
          <p:nvPr/>
        </p:nvSpPr>
        <p:spPr>
          <a:xfrm>
            <a:off x="8001000" y="4663440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Formulário acessível</a:t>
            </a:r>
            <a:endParaRPr lang="en-US" sz="1600" dirty="0"/>
          </a:p>
        </p:txBody>
      </p:sp>
      <p:sp>
        <p:nvSpPr>
          <p:cNvPr id="29" name="Issue 22 (forma)"/>
          <p:cNvSpPr/>
          <p:nvPr/>
        </p:nvSpPr>
        <p:spPr>
          <a:xfrm>
            <a:off x="7406640" y="5248656"/>
            <a:ext cx="420624" cy="420624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Issue 22"/>
          <p:cNvSpPr txBox="1"/>
          <p:nvPr/>
        </p:nvSpPr>
        <p:spPr>
          <a:xfrm>
            <a:off x="7406640" y="5248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22</a:t>
            </a:r>
            <a:endParaRPr lang="en-US" sz="1400" dirty="0"/>
          </a:p>
        </p:txBody>
      </p:sp>
      <p:sp>
        <p:nvSpPr>
          <p:cNvPr id="31" name="Texto da issue 22"/>
          <p:cNvSpPr txBox="1"/>
          <p:nvPr/>
        </p:nvSpPr>
        <p:spPr>
          <a:xfrm>
            <a:off x="8001000" y="524865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Cadastro e edição de projeto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Gravação na API</a:t>
            </a:r>
            <a:endParaRPr lang="en-US" sz="3400" dirty="0"/>
          </a:p>
        </p:txBody>
      </p:sp>
      <p:sp>
        <p:nvSpPr>
          <p:cNvPr id="3" name="Issue do slide (forma)"/>
          <p:cNvSpPr/>
          <p:nvPr/>
        </p:nvSpPr>
        <p:spPr>
          <a:xfrm>
            <a:off x="9262872" y="45720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ssue do slide"/>
          <p:cNvSpPr txBox="1"/>
          <p:nvPr/>
        </p:nvSpPr>
        <p:spPr>
          <a:xfrm>
            <a:off x="9262872" y="45720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Issue 16 · API de escrita</a:t>
            </a:r>
            <a:endParaRPr lang="en-US" sz="1400" dirty="0"/>
          </a:p>
        </p:txBody>
      </p:sp>
      <p:sp>
        <p:nvSpPr>
          <p:cNvPr id="5" name="Janela de código"/>
          <p:cNvSpPr/>
          <p:nvPr/>
        </p:nvSpPr>
        <p:spPr>
          <a:xfrm>
            <a:off x="548640" y="1234440"/>
            <a:ext cx="6400800" cy="48006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onto da janela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onto da janela"/>
          <p:cNvSpPr/>
          <p:nvPr/>
        </p:nvSpPr>
        <p:spPr>
          <a:xfrm>
            <a:off x="960120" y="141732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onto da janela"/>
          <p:cNvSpPr/>
          <p:nvPr/>
        </p:nvSpPr>
        <p:spPr>
          <a:xfrm>
            <a:off x="1143000" y="141732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minho do arquivo"/>
          <p:cNvSpPr txBox="1"/>
          <p:nvPr/>
        </p:nvSpPr>
        <p:spPr>
          <a:xfrm>
            <a:off x="15087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src/lib/servicos/api.ts</a:t>
            </a:r>
            <a:endParaRPr lang="en-US" sz="1200" dirty="0"/>
          </a:p>
        </p:txBody>
      </p:sp>
      <p:sp>
        <p:nvSpPr>
          <p:cNvPr id="10" name="Faixa 1"/>
          <p:cNvSpPr/>
          <p:nvPr/>
        </p:nvSpPr>
        <p:spPr>
          <a:xfrm>
            <a:off x="658368" y="1828800"/>
            <a:ext cx="6181344" cy="800100"/>
          </a:xfrm>
          <a:prstGeom prst="roundRect">
            <a:avLst>
              <a:gd name="adj" fmla="val 685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Número 1 (forma)"/>
          <p:cNvSpPr/>
          <p:nvPr/>
        </p:nvSpPr>
        <p:spPr>
          <a:xfrm>
            <a:off x="749808" y="184327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úmero 1"/>
          <p:cNvSpPr txBox="1"/>
          <p:nvPr/>
        </p:nvSpPr>
        <p:spPr>
          <a:xfrm>
            <a:off x="749808" y="18432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Faixa 2"/>
          <p:cNvSpPr/>
          <p:nvPr/>
        </p:nvSpPr>
        <p:spPr>
          <a:xfrm>
            <a:off x="658368" y="2628900"/>
            <a:ext cx="6181344" cy="533400"/>
          </a:xfrm>
          <a:prstGeom prst="roundRect">
            <a:avLst>
              <a:gd name="adj" fmla="val 10286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4" name="Número 2 (forma)"/>
          <p:cNvSpPr/>
          <p:nvPr/>
        </p:nvSpPr>
        <p:spPr>
          <a:xfrm>
            <a:off x="749808" y="264337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2"/>
          <p:cNvSpPr txBox="1"/>
          <p:nvPr/>
        </p:nvSpPr>
        <p:spPr>
          <a:xfrm>
            <a:off x="749808" y="26433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Faixa 3"/>
          <p:cNvSpPr/>
          <p:nvPr/>
        </p:nvSpPr>
        <p:spPr>
          <a:xfrm>
            <a:off x="658368" y="3162300"/>
            <a:ext cx="6181344" cy="1066800"/>
          </a:xfrm>
          <a:prstGeom prst="roundRect">
            <a:avLst>
              <a:gd name="adj" fmla="val 514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Número 3 (forma)"/>
          <p:cNvSpPr/>
          <p:nvPr/>
        </p:nvSpPr>
        <p:spPr>
          <a:xfrm>
            <a:off x="749808" y="317677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úmero 3"/>
          <p:cNvSpPr txBox="1"/>
          <p:nvPr/>
        </p:nvSpPr>
        <p:spPr>
          <a:xfrm>
            <a:off x="749808" y="31767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Código"/>
          <p:cNvSpPr txBox="1"/>
          <p:nvPr/>
        </p:nvSpPr>
        <p:spPr>
          <a:xfrm>
            <a:off x="1234440" y="1828800"/>
            <a:ext cx="553212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criarTarefa(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NovaTarefa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&lt;Tarefa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requisitar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&lt;Tarefa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"/tarefas"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JSON.stringify(dados),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0" name="Método POST (forma)"/>
          <p:cNvSpPr/>
          <p:nvPr/>
        </p:nvSpPr>
        <p:spPr>
          <a:xfrm>
            <a:off x="868680" y="503682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Método POST"/>
          <p:cNvSpPr txBox="1"/>
          <p:nvPr/>
        </p:nvSpPr>
        <p:spPr>
          <a:xfrm>
            <a:off x="868680" y="50368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cria uma tarefa</a:t>
            </a:r>
            <a:endParaRPr lang="en-US" sz="1400" dirty="0"/>
          </a:p>
        </p:txBody>
      </p:sp>
      <p:sp>
        <p:nvSpPr>
          <p:cNvPr id="22" name="Método PATCH (forma)"/>
          <p:cNvSpPr/>
          <p:nvPr/>
        </p:nvSpPr>
        <p:spPr>
          <a:xfrm>
            <a:off x="3794760" y="503682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Método PATCH"/>
          <p:cNvSpPr txBox="1"/>
          <p:nvPr/>
        </p:nvSpPr>
        <p:spPr>
          <a:xfrm>
            <a:off x="3794760" y="50368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atualiza uma tarefa</a:t>
            </a:r>
            <a:endParaRPr lang="en-US" sz="1400" dirty="0"/>
          </a:p>
        </p:txBody>
      </p:sp>
      <p:sp>
        <p:nvSpPr>
          <p:cNvPr id="24" name="Rótulo da explicação"/>
          <p:cNvSpPr txBox="1"/>
          <p:nvPr/>
        </p:nvSpPr>
        <p:spPr>
          <a:xfrm>
            <a:off x="7360920" y="12344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 QUE O CÓDIGO FAZ</a:t>
            </a:r>
            <a:endParaRPr lang="en-US" sz="1200" dirty="0"/>
          </a:p>
        </p:txBody>
      </p:sp>
      <p:sp>
        <p:nvSpPr>
          <p:cNvPr id="25" name="Número 1 (forma)"/>
          <p:cNvSpPr/>
          <p:nvPr/>
        </p:nvSpPr>
        <p:spPr>
          <a:xfrm>
            <a:off x="7360920" y="17007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úmero 1"/>
          <p:cNvSpPr txBox="1"/>
          <p:nvPr/>
        </p:nvSpPr>
        <p:spPr>
          <a:xfrm>
            <a:off x="736092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Explicação 1"/>
          <p:cNvSpPr txBox="1"/>
          <p:nvPr/>
        </p:nvSpPr>
        <p:spPr>
          <a:xfrm>
            <a:off x="7909560" y="1691640"/>
            <a:ext cx="373075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Assinatura tipada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Recebe os dados da nova tarefa e devolve uma Tarefa, já com o id gerado pela API.</a:t>
            </a:r>
            <a:endParaRPr lang="en-US" sz="1700" dirty="0"/>
          </a:p>
        </p:txBody>
      </p:sp>
      <p:sp>
        <p:nvSpPr>
          <p:cNvPr id="28" name="Número 2 (forma)"/>
          <p:cNvSpPr/>
          <p:nvPr/>
        </p:nvSpPr>
        <p:spPr>
          <a:xfrm>
            <a:off x="7360920" y="28666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Número 2"/>
          <p:cNvSpPr txBox="1"/>
          <p:nvPr/>
        </p:nvSpPr>
        <p:spPr>
          <a:xfrm>
            <a:off x="7360920" y="28666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Explicação 2"/>
          <p:cNvSpPr txBox="1"/>
          <p:nvPr/>
        </p:nvSpPr>
        <p:spPr>
          <a:xfrm>
            <a:off x="7909560" y="2857500"/>
            <a:ext cx="373075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Chamada à API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requisitar() é a função do módulo que chama a API; POST pede para criar em /tarefas.</a:t>
            </a:r>
            <a:endParaRPr lang="en-US" sz="1700" dirty="0"/>
          </a:p>
        </p:txBody>
      </p:sp>
      <p:sp>
        <p:nvSpPr>
          <p:cNvPr id="31" name="Número 3 (forma)"/>
          <p:cNvSpPr/>
          <p:nvPr/>
        </p:nvSpPr>
        <p:spPr>
          <a:xfrm>
            <a:off x="7360920" y="403250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Número 3"/>
          <p:cNvSpPr txBox="1"/>
          <p:nvPr/>
        </p:nvSpPr>
        <p:spPr>
          <a:xfrm>
            <a:off x="736092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Explicação 3"/>
          <p:cNvSpPr txBox="1"/>
          <p:nvPr/>
        </p:nvSpPr>
        <p:spPr>
          <a:xfrm>
            <a:off x="7909560" y="4023360"/>
            <a:ext cx="373075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Corpo em JSON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 cabeçalho avisa que o corpo é JSON; JSON.stringify converte o objeto dados em texto.</a:t>
            </a:r>
            <a:endParaRPr lang="en-US" sz="1700" dirty="0"/>
          </a:p>
        </p:txBody>
      </p:sp>
      <p:sp>
        <p:nvSpPr>
          <p:cNvPr id="34" name="Resumo (forma)"/>
          <p:cNvSpPr/>
          <p:nvPr/>
        </p:nvSpPr>
        <p:spPr>
          <a:xfrm>
            <a:off x="7360920" y="5486400"/>
            <a:ext cx="4279392" cy="548640"/>
          </a:xfrm>
          <a:prstGeom prst="roundRect">
            <a:avLst>
              <a:gd name="adj" fmla="val 25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Resumo"/>
          <p:cNvSpPr txBox="1"/>
          <p:nvPr/>
        </p:nvSpPr>
        <p:spPr>
          <a:xfrm>
            <a:off x="7360920" y="5486400"/>
            <a:ext cx="42793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Para editar, a mesma ideia com PATCH.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Cadastro de tarefa</a:t>
            </a:r>
            <a:endParaRPr lang="en-US" sz="3400" dirty="0"/>
          </a:p>
        </p:txBody>
      </p:sp>
      <p:sp>
        <p:nvSpPr>
          <p:cNvPr id="3" name="Issue do slide (forma)"/>
          <p:cNvSpPr/>
          <p:nvPr/>
        </p:nvSpPr>
        <p:spPr>
          <a:xfrm>
            <a:off x="9262872" y="45720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ssue do slide"/>
          <p:cNvSpPr txBox="1"/>
          <p:nvPr/>
        </p:nvSpPr>
        <p:spPr>
          <a:xfrm>
            <a:off x="9262872" y="45720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Issues 17 e 18</a:t>
            </a:r>
            <a:endParaRPr lang="en-US" sz="1400" dirty="0"/>
          </a:p>
        </p:txBody>
      </p:sp>
      <p:sp>
        <p:nvSpPr>
          <p:cNvPr id="5" name="Janela de código"/>
          <p:cNvSpPr/>
          <p:nvPr/>
        </p:nvSpPr>
        <p:spPr>
          <a:xfrm>
            <a:off x="548640" y="1234440"/>
            <a:ext cx="6400800" cy="48006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onto da janela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onto da janela"/>
          <p:cNvSpPr/>
          <p:nvPr/>
        </p:nvSpPr>
        <p:spPr>
          <a:xfrm>
            <a:off x="960120" y="141732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onto da janela"/>
          <p:cNvSpPr/>
          <p:nvPr/>
        </p:nvSpPr>
        <p:spPr>
          <a:xfrm>
            <a:off x="1143000" y="141732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minho do arquivo"/>
          <p:cNvSpPr txBox="1"/>
          <p:nvPr/>
        </p:nvSpPr>
        <p:spPr>
          <a:xfrm>
            <a:off x="15087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src/routes/tarefas/nova/+page.svelte</a:t>
            </a:r>
            <a:endParaRPr lang="en-US" sz="1200" dirty="0"/>
          </a:p>
        </p:txBody>
      </p:sp>
      <p:sp>
        <p:nvSpPr>
          <p:cNvPr id="10" name="Faixa 1"/>
          <p:cNvSpPr/>
          <p:nvPr/>
        </p:nvSpPr>
        <p:spPr>
          <a:xfrm>
            <a:off x="658368" y="1828800"/>
            <a:ext cx="6181344" cy="800100"/>
          </a:xfrm>
          <a:prstGeom prst="roundRect">
            <a:avLst>
              <a:gd name="adj" fmla="val 685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Número 1 (forma)"/>
          <p:cNvSpPr/>
          <p:nvPr/>
        </p:nvSpPr>
        <p:spPr>
          <a:xfrm>
            <a:off x="749808" y="184327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úmero 1"/>
          <p:cNvSpPr txBox="1"/>
          <p:nvPr/>
        </p:nvSpPr>
        <p:spPr>
          <a:xfrm>
            <a:off x="749808" y="18432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Faixa 2"/>
          <p:cNvSpPr/>
          <p:nvPr/>
        </p:nvSpPr>
        <p:spPr>
          <a:xfrm>
            <a:off x="658368" y="2895600"/>
            <a:ext cx="6181344" cy="533400"/>
          </a:xfrm>
          <a:prstGeom prst="roundRect">
            <a:avLst>
              <a:gd name="adj" fmla="val 10286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4" name="Número 2 (forma)"/>
          <p:cNvSpPr/>
          <p:nvPr/>
        </p:nvSpPr>
        <p:spPr>
          <a:xfrm>
            <a:off x="749808" y="291007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2"/>
          <p:cNvSpPr txBox="1"/>
          <p:nvPr/>
        </p:nvSpPr>
        <p:spPr>
          <a:xfrm>
            <a:off x="749808" y="2910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Faixa 3"/>
          <p:cNvSpPr/>
          <p:nvPr/>
        </p:nvSpPr>
        <p:spPr>
          <a:xfrm>
            <a:off x="658368" y="3429000"/>
            <a:ext cx="6181344" cy="800100"/>
          </a:xfrm>
          <a:prstGeom prst="roundRect">
            <a:avLst>
              <a:gd name="adj" fmla="val 6857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Número 3 (forma)"/>
          <p:cNvSpPr/>
          <p:nvPr/>
        </p:nvSpPr>
        <p:spPr>
          <a:xfrm>
            <a:off x="749808" y="344347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úmero 3"/>
          <p:cNvSpPr txBox="1"/>
          <p:nvPr/>
        </p:nvSpPr>
        <p:spPr>
          <a:xfrm>
            <a:off x="749808" y="34434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Faixa 4"/>
          <p:cNvSpPr/>
          <p:nvPr/>
        </p:nvSpPr>
        <p:spPr>
          <a:xfrm>
            <a:off x="658368" y="4229100"/>
            <a:ext cx="6181344" cy="1333500"/>
          </a:xfrm>
          <a:prstGeom prst="roundRect">
            <a:avLst>
              <a:gd name="adj" fmla="val 4114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0" name="Número 4 (forma)"/>
          <p:cNvSpPr/>
          <p:nvPr/>
        </p:nvSpPr>
        <p:spPr>
          <a:xfrm>
            <a:off x="749808" y="4243578"/>
            <a:ext cx="237744" cy="2377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Número 4"/>
          <p:cNvSpPr txBox="1"/>
          <p:nvPr/>
        </p:nvSpPr>
        <p:spPr>
          <a:xfrm>
            <a:off x="749808" y="42435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Código"/>
          <p:cNvSpPr txBox="1"/>
          <p:nvPr/>
        </p:nvSpPr>
        <p:spPr>
          <a:xfrm>
            <a:off x="1234440" y="1828800"/>
            <a:ext cx="553212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projetoSugerido =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$derived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page.url.searchParams.get(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'projetoId'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"projeto"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bind:value={dados.projetoId} required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&lt;option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value=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disabled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Selecione um projeto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&lt;/option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{#each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projetos as projeto (projeto.id)}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&lt;option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value={projeto.id}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{projeto.nome}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&lt;/option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{/each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</p:txBody>
      </p:sp>
      <p:sp>
        <p:nvSpPr>
          <p:cNvPr id="23" name="Rótulo da explicação"/>
          <p:cNvSpPr txBox="1"/>
          <p:nvPr/>
        </p:nvSpPr>
        <p:spPr>
          <a:xfrm>
            <a:off x="7360920" y="12344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 QUE O CÓDIGO FAZ</a:t>
            </a:r>
            <a:endParaRPr lang="en-US" sz="1200" dirty="0"/>
          </a:p>
        </p:txBody>
      </p:sp>
      <p:sp>
        <p:nvSpPr>
          <p:cNvPr id="24" name="Número 1 (forma)"/>
          <p:cNvSpPr/>
          <p:nvPr/>
        </p:nvSpPr>
        <p:spPr>
          <a:xfrm>
            <a:off x="7360920" y="17007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úmero 1"/>
          <p:cNvSpPr txBox="1"/>
          <p:nvPr/>
        </p:nvSpPr>
        <p:spPr>
          <a:xfrm>
            <a:off x="736092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Explicação 1"/>
          <p:cNvSpPr txBox="1"/>
          <p:nvPr/>
        </p:nvSpPr>
        <p:spPr>
          <a:xfrm>
            <a:off x="7909560" y="1691640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Projeto vindo da URL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Lê ?projetoId= para o projeto já vir selecionado. $derived recalcula sozinho.</a:t>
            </a:r>
            <a:endParaRPr lang="en-US" sz="1700" dirty="0"/>
          </a:p>
        </p:txBody>
      </p:sp>
      <p:sp>
        <p:nvSpPr>
          <p:cNvPr id="27" name="Número 2 (forma)"/>
          <p:cNvSpPr/>
          <p:nvPr/>
        </p:nvSpPr>
        <p:spPr>
          <a:xfrm>
            <a:off x="7360920" y="26517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Número 2"/>
          <p:cNvSpPr txBox="1"/>
          <p:nvPr/>
        </p:nvSpPr>
        <p:spPr>
          <a:xfrm>
            <a:off x="7360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Explicação 2"/>
          <p:cNvSpPr txBox="1"/>
          <p:nvPr/>
        </p:nvSpPr>
        <p:spPr>
          <a:xfrm>
            <a:off x="7909560" y="2642616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Seletor ligado ao estado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bind:value guarda a escolha em dados.projetoId; required exige um projeto.</a:t>
            </a:r>
            <a:endParaRPr lang="en-US" sz="1700" dirty="0"/>
          </a:p>
        </p:txBody>
      </p:sp>
      <p:sp>
        <p:nvSpPr>
          <p:cNvPr id="30" name="Número 3 (forma)"/>
          <p:cNvSpPr/>
          <p:nvPr/>
        </p:nvSpPr>
        <p:spPr>
          <a:xfrm>
            <a:off x="7360920" y="360273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Número 3"/>
          <p:cNvSpPr txBox="1"/>
          <p:nvPr/>
        </p:nvSpPr>
        <p:spPr>
          <a:xfrm>
            <a:off x="736092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Explicação 3"/>
          <p:cNvSpPr txBox="1"/>
          <p:nvPr/>
        </p:nvSpPr>
        <p:spPr>
          <a:xfrm>
            <a:off x="7909560" y="3593592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Opção inicial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Texto-guia desabilitado: aparece, mas não pode ser escolhido.</a:t>
            </a:r>
            <a:endParaRPr lang="en-US" sz="1700" dirty="0"/>
          </a:p>
        </p:txBody>
      </p:sp>
      <p:sp>
        <p:nvSpPr>
          <p:cNvPr id="33" name="Número 4 (forma)"/>
          <p:cNvSpPr/>
          <p:nvPr/>
        </p:nvSpPr>
        <p:spPr>
          <a:xfrm>
            <a:off x="7360920" y="4553712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Número 4"/>
          <p:cNvSpPr txBox="1"/>
          <p:nvPr/>
        </p:nvSpPr>
        <p:spPr>
          <a:xfrm>
            <a:off x="736092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Explicação 4"/>
          <p:cNvSpPr txBox="1"/>
          <p:nvPr/>
        </p:nvSpPr>
        <p:spPr>
          <a:xfrm>
            <a:off x="7909560" y="4544568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Opções vindas da API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{#each} cria uma &lt;option&gt; por projeto carregado; o id é a chave.</a:t>
            </a:r>
            <a:endParaRPr lang="en-US" sz="1700" dirty="0"/>
          </a:p>
        </p:txBody>
      </p:sp>
      <p:sp>
        <p:nvSpPr>
          <p:cNvPr id="36" name="Resumo (forma)"/>
          <p:cNvSpPr/>
          <p:nvPr/>
        </p:nvSpPr>
        <p:spPr>
          <a:xfrm>
            <a:off x="7360920" y="5486400"/>
            <a:ext cx="4279392" cy="548640"/>
          </a:xfrm>
          <a:prstGeom prst="roundRect">
            <a:avLst>
              <a:gd name="adj" fmla="val 25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Resumo"/>
          <p:cNvSpPr txBox="1"/>
          <p:nvPr/>
        </p:nvSpPr>
        <p:spPr>
          <a:xfrm>
            <a:off x="7360920" y="5486400"/>
            <a:ext cx="42793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Ao salvar, grava na API e volta para a lista.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Edição de tarefa</a:t>
            </a:r>
            <a:endParaRPr lang="en-US" sz="3400" dirty="0"/>
          </a:p>
        </p:txBody>
      </p:sp>
      <p:sp>
        <p:nvSpPr>
          <p:cNvPr id="3" name="Issue do slide (forma)"/>
          <p:cNvSpPr/>
          <p:nvPr/>
        </p:nvSpPr>
        <p:spPr>
          <a:xfrm>
            <a:off x="9262872" y="45720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ssue do slide"/>
          <p:cNvSpPr txBox="1"/>
          <p:nvPr/>
        </p:nvSpPr>
        <p:spPr>
          <a:xfrm>
            <a:off x="9262872" y="45720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Issues 17 e 19</a:t>
            </a:r>
            <a:endParaRPr lang="en-US" sz="1400" dirty="0"/>
          </a:p>
        </p:txBody>
      </p:sp>
      <p:sp>
        <p:nvSpPr>
          <p:cNvPr id="5" name="Janela de código"/>
          <p:cNvSpPr/>
          <p:nvPr/>
        </p:nvSpPr>
        <p:spPr>
          <a:xfrm>
            <a:off x="548640" y="1234440"/>
            <a:ext cx="6400800" cy="48006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onto da janela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onto da janela"/>
          <p:cNvSpPr/>
          <p:nvPr/>
        </p:nvSpPr>
        <p:spPr>
          <a:xfrm>
            <a:off x="960120" y="141732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onto da janela"/>
          <p:cNvSpPr/>
          <p:nvPr/>
        </p:nvSpPr>
        <p:spPr>
          <a:xfrm>
            <a:off x="1143000" y="141732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minho do arquivo"/>
          <p:cNvSpPr txBox="1"/>
          <p:nvPr/>
        </p:nvSpPr>
        <p:spPr>
          <a:xfrm>
            <a:off x="15087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src/routes/tarefas/[id]/editar/+page.svelte</a:t>
            </a:r>
            <a:endParaRPr lang="en-US" sz="1200" dirty="0"/>
          </a:p>
        </p:txBody>
      </p:sp>
      <p:sp>
        <p:nvSpPr>
          <p:cNvPr id="10" name="Faixa 1"/>
          <p:cNvSpPr/>
          <p:nvPr/>
        </p:nvSpPr>
        <p:spPr>
          <a:xfrm>
            <a:off x="658368" y="2095500"/>
            <a:ext cx="6181344" cy="266700"/>
          </a:xfrm>
          <a:prstGeom prst="roundRect">
            <a:avLst>
              <a:gd name="adj" fmla="val 2057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Número 1 (forma)"/>
          <p:cNvSpPr/>
          <p:nvPr/>
        </p:nvSpPr>
        <p:spPr>
          <a:xfrm>
            <a:off x="749808" y="210997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úmero 1"/>
          <p:cNvSpPr txBox="1"/>
          <p:nvPr/>
        </p:nvSpPr>
        <p:spPr>
          <a:xfrm>
            <a:off x="749808" y="21099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Faixa 2"/>
          <p:cNvSpPr/>
          <p:nvPr/>
        </p:nvSpPr>
        <p:spPr>
          <a:xfrm>
            <a:off x="658368" y="2362200"/>
            <a:ext cx="6181344" cy="800100"/>
          </a:xfrm>
          <a:prstGeom prst="roundRect">
            <a:avLst>
              <a:gd name="adj" fmla="val 6857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4" name="Número 2 (forma)"/>
          <p:cNvSpPr/>
          <p:nvPr/>
        </p:nvSpPr>
        <p:spPr>
          <a:xfrm>
            <a:off x="749808" y="237667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2"/>
          <p:cNvSpPr txBox="1"/>
          <p:nvPr/>
        </p:nvSpPr>
        <p:spPr>
          <a:xfrm>
            <a:off x="749808" y="23766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Faixa 3"/>
          <p:cNvSpPr/>
          <p:nvPr/>
        </p:nvSpPr>
        <p:spPr>
          <a:xfrm>
            <a:off x="658368" y="3162300"/>
            <a:ext cx="6181344" cy="266700"/>
          </a:xfrm>
          <a:prstGeom prst="roundRect">
            <a:avLst>
              <a:gd name="adj" fmla="val 20571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Número 3 (forma)"/>
          <p:cNvSpPr/>
          <p:nvPr/>
        </p:nvSpPr>
        <p:spPr>
          <a:xfrm>
            <a:off x="749808" y="317677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úmero 3"/>
          <p:cNvSpPr txBox="1"/>
          <p:nvPr/>
        </p:nvSpPr>
        <p:spPr>
          <a:xfrm>
            <a:off x="749808" y="31767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Faixa 4"/>
          <p:cNvSpPr/>
          <p:nvPr/>
        </p:nvSpPr>
        <p:spPr>
          <a:xfrm>
            <a:off x="658368" y="3962400"/>
            <a:ext cx="6181344" cy="533400"/>
          </a:xfrm>
          <a:prstGeom prst="roundRect">
            <a:avLst>
              <a:gd name="adj" fmla="val 10286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0" name="Número 4 (forma)"/>
          <p:cNvSpPr/>
          <p:nvPr/>
        </p:nvSpPr>
        <p:spPr>
          <a:xfrm>
            <a:off x="749808" y="3976878"/>
            <a:ext cx="237744" cy="2377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Número 4"/>
          <p:cNvSpPr txBox="1"/>
          <p:nvPr/>
        </p:nvSpPr>
        <p:spPr>
          <a:xfrm>
            <a:off x="749808" y="39768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Código"/>
          <p:cNvSpPr txBox="1"/>
          <p:nvPr/>
        </p:nvSpPr>
        <p:spPr>
          <a:xfrm>
            <a:off x="1234440" y="1828800"/>
            <a:ext cx="553212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&lt;FormularioTarefa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valorInicial={tarefa}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textoEnvio=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"Salvar alterações"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{enviando}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erro={erroEnvio}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onenviar={salvar}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atualizarTarefa(tarefa.id, dados);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goto(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`/tarefas/${tarefa.id}`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23" name="Etapa 1 (forma)"/>
          <p:cNvSpPr/>
          <p:nvPr/>
        </p:nvSpPr>
        <p:spPr>
          <a:xfrm>
            <a:off x="914400" y="4861560"/>
            <a:ext cx="1280160" cy="685800"/>
          </a:xfrm>
          <a:prstGeom prst="roundRect">
            <a:avLst>
              <a:gd name="adj" fmla="val 16000"/>
            </a:avLst>
          </a:prstGeom>
          <a:solidFill>
            <a:schemeClr val="accent6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Etapa 1"/>
          <p:cNvSpPr txBox="1"/>
          <p:nvPr/>
        </p:nvSpPr>
        <p:spPr>
          <a:xfrm>
            <a:off x="914400" y="4861560"/>
            <a:ext cx="1280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Lê o id da URL</a:t>
            </a:r>
            <a:endParaRPr lang="en-US" sz="1200" dirty="0"/>
          </a:p>
        </p:txBody>
      </p:sp>
      <p:sp>
        <p:nvSpPr>
          <p:cNvPr id="25" name="Seta 1"/>
          <p:cNvSpPr/>
          <p:nvPr/>
        </p:nvSpPr>
        <p:spPr>
          <a:xfrm>
            <a:off x="2240280" y="5122164"/>
            <a:ext cx="182880" cy="164592"/>
          </a:xfrm>
          <a:prstGeom prst="rightArrow">
            <a:avLst/>
          </a:prstGeom>
          <a:solidFill>
            <a:schemeClr val="bg2">
              <a:alpha val="7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Etapa 2 (forma)"/>
          <p:cNvSpPr/>
          <p:nvPr/>
        </p:nvSpPr>
        <p:spPr>
          <a:xfrm>
            <a:off x="2468880" y="4861560"/>
            <a:ext cx="1280160" cy="685800"/>
          </a:xfrm>
          <a:prstGeom prst="roundRect">
            <a:avLst>
              <a:gd name="adj" fmla="val 16000"/>
            </a:avLst>
          </a:prstGeom>
          <a:solidFill>
            <a:schemeClr val="accent6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Etapa 2"/>
          <p:cNvSpPr txBox="1"/>
          <p:nvPr/>
        </p:nvSpPr>
        <p:spPr>
          <a:xfrm>
            <a:off x="2468880" y="4861560"/>
            <a:ext cx="1280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Busca a tarefa</a:t>
            </a:r>
            <a:endParaRPr lang="en-US" sz="1200" dirty="0"/>
          </a:p>
        </p:txBody>
      </p:sp>
      <p:sp>
        <p:nvSpPr>
          <p:cNvPr id="28" name="Seta 2"/>
          <p:cNvSpPr/>
          <p:nvPr/>
        </p:nvSpPr>
        <p:spPr>
          <a:xfrm>
            <a:off x="3794760" y="5122164"/>
            <a:ext cx="182880" cy="164592"/>
          </a:xfrm>
          <a:prstGeom prst="rightArrow">
            <a:avLst/>
          </a:prstGeom>
          <a:solidFill>
            <a:schemeClr val="bg2">
              <a:alpha val="7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Etapa 3 (forma)"/>
          <p:cNvSpPr/>
          <p:nvPr/>
        </p:nvSpPr>
        <p:spPr>
          <a:xfrm>
            <a:off x="4023360" y="4861560"/>
            <a:ext cx="1280160" cy="685800"/>
          </a:xfrm>
          <a:prstGeom prst="roundRect">
            <a:avLst>
              <a:gd name="adj" fmla="val 16000"/>
            </a:avLst>
          </a:prstGeom>
          <a:solidFill>
            <a:schemeClr val="accent6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Etapa 3"/>
          <p:cNvSpPr txBox="1"/>
          <p:nvPr/>
        </p:nvSpPr>
        <p:spPr>
          <a:xfrm>
            <a:off x="4023360" y="4861560"/>
            <a:ext cx="1280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Preenche o formulário</a:t>
            </a:r>
            <a:endParaRPr lang="en-US" sz="1200" dirty="0"/>
          </a:p>
        </p:txBody>
      </p:sp>
      <p:sp>
        <p:nvSpPr>
          <p:cNvPr id="31" name="Seta 3"/>
          <p:cNvSpPr/>
          <p:nvPr/>
        </p:nvSpPr>
        <p:spPr>
          <a:xfrm>
            <a:off x="5349240" y="5122164"/>
            <a:ext cx="182880" cy="164592"/>
          </a:xfrm>
          <a:prstGeom prst="rightArrow">
            <a:avLst/>
          </a:prstGeom>
          <a:solidFill>
            <a:schemeClr val="bg2">
              <a:alpha val="7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Etapa 4 (forma)"/>
          <p:cNvSpPr/>
          <p:nvPr/>
        </p:nvSpPr>
        <p:spPr>
          <a:xfrm>
            <a:off x="5577840" y="4861560"/>
            <a:ext cx="1280160" cy="685800"/>
          </a:xfrm>
          <a:prstGeom prst="roundRect">
            <a:avLst>
              <a:gd name="adj" fmla="val 16000"/>
            </a:avLst>
          </a:prstGeom>
          <a:solidFill>
            <a:schemeClr val="accent6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Etapa 4"/>
          <p:cNvSpPr txBox="1"/>
          <p:nvPr/>
        </p:nvSpPr>
        <p:spPr>
          <a:xfrm>
            <a:off x="5577840" y="4861560"/>
            <a:ext cx="1280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Salva e abre o detalhe</a:t>
            </a:r>
            <a:endParaRPr lang="en-US" sz="1200" dirty="0"/>
          </a:p>
        </p:txBody>
      </p:sp>
      <p:sp>
        <p:nvSpPr>
          <p:cNvPr id="34" name="Rótulo da explicação"/>
          <p:cNvSpPr txBox="1"/>
          <p:nvPr/>
        </p:nvSpPr>
        <p:spPr>
          <a:xfrm>
            <a:off x="7360920" y="12344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 QUE O CÓDIGO FAZ</a:t>
            </a:r>
            <a:endParaRPr lang="en-US" sz="1200" dirty="0"/>
          </a:p>
        </p:txBody>
      </p:sp>
      <p:sp>
        <p:nvSpPr>
          <p:cNvPr id="35" name="Número 1 (forma)"/>
          <p:cNvSpPr/>
          <p:nvPr/>
        </p:nvSpPr>
        <p:spPr>
          <a:xfrm>
            <a:off x="7360920" y="17007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Número 1"/>
          <p:cNvSpPr txBox="1"/>
          <p:nvPr/>
        </p:nvSpPr>
        <p:spPr>
          <a:xfrm>
            <a:off x="736092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37" name="Explicação 1"/>
          <p:cNvSpPr txBox="1"/>
          <p:nvPr/>
        </p:nvSpPr>
        <p:spPr>
          <a:xfrm>
            <a:off x="7909560" y="1691640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Dados atuais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valorInicial: a tarefa buscada pelo id da URL preenche os campos.</a:t>
            </a:r>
            <a:endParaRPr lang="en-US" sz="1700" dirty="0"/>
          </a:p>
        </p:txBody>
      </p:sp>
      <p:sp>
        <p:nvSpPr>
          <p:cNvPr id="38" name="Número 2 (forma)"/>
          <p:cNvSpPr/>
          <p:nvPr/>
        </p:nvSpPr>
        <p:spPr>
          <a:xfrm>
            <a:off x="7360920" y="26517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Número 2"/>
          <p:cNvSpPr txBox="1"/>
          <p:nvPr/>
        </p:nvSpPr>
        <p:spPr>
          <a:xfrm>
            <a:off x="7360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40" name="Explicação 2"/>
          <p:cNvSpPr txBox="1"/>
          <p:nvPr/>
        </p:nvSpPr>
        <p:spPr>
          <a:xfrm>
            <a:off x="7909560" y="2642616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Mesmo formulário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textoEnvio troca o rótulo do botão; enviando e erro vêm do estado da tela.</a:t>
            </a:r>
            <a:endParaRPr lang="en-US" sz="1700" dirty="0"/>
          </a:p>
        </p:txBody>
      </p:sp>
      <p:sp>
        <p:nvSpPr>
          <p:cNvPr id="41" name="Número 3 (forma)"/>
          <p:cNvSpPr/>
          <p:nvPr/>
        </p:nvSpPr>
        <p:spPr>
          <a:xfrm>
            <a:off x="7360920" y="360273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Número 3"/>
          <p:cNvSpPr txBox="1"/>
          <p:nvPr/>
        </p:nvSpPr>
        <p:spPr>
          <a:xfrm>
            <a:off x="736092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43" name="Explicação 3"/>
          <p:cNvSpPr txBox="1"/>
          <p:nvPr/>
        </p:nvSpPr>
        <p:spPr>
          <a:xfrm>
            <a:off x="7909560" y="3593592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Ao enviar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onenviar={salvar}: o formulário avisa a tela, que salva as alterações.</a:t>
            </a:r>
            <a:endParaRPr lang="en-US" sz="1700" dirty="0"/>
          </a:p>
        </p:txBody>
      </p:sp>
      <p:sp>
        <p:nvSpPr>
          <p:cNvPr id="44" name="Número 4 (forma)"/>
          <p:cNvSpPr/>
          <p:nvPr/>
        </p:nvSpPr>
        <p:spPr>
          <a:xfrm>
            <a:off x="7360920" y="4553712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Número 4"/>
          <p:cNvSpPr txBox="1"/>
          <p:nvPr/>
        </p:nvSpPr>
        <p:spPr>
          <a:xfrm>
            <a:off x="736092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Explicação 4"/>
          <p:cNvSpPr txBox="1"/>
          <p:nvPr/>
        </p:nvSpPr>
        <p:spPr>
          <a:xfrm>
            <a:off x="7909560" y="4544568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Gravar e voltar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atualizarTarefa envia à API; goto abre o detalhe da tarefa.</a:t>
            </a:r>
            <a:endParaRPr lang="en-US" sz="1700" dirty="0"/>
          </a:p>
        </p:txBody>
      </p:sp>
      <p:sp>
        <p:nvSpPr>
          <p:cNvPr id="47" name="Resumo (forma)"/>
          <p:cNvSpPr/>
          <p:nvPr/>
        </p:nvSpPr>
        <p:spPr>
          <a:xfrm>
            <a:off x="7360920" y="5486400"/>
            <a:ext cx="4279392" cy="548640"/>
          </a:xfrm>
          <a:prstGeom prst="roundRect">
            <a:avLst>
              <a:gd name="adj" fmla="val 25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Resumo"/>
          <p:cNvSpPr txBox="1"/>
          <p:nvPr/>
        </p:nvSpPr>
        <p:spPr>
          <a:xfrm>
            <a:off x="7360920" y="5486400"/>
            <a:ext cx="42793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 mesmo componente serve para criar e editar.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Cadastro e edição de projetos</a:t>
            </a:r>
            <a:endParaRPr lang="en-US" sz="3400" dirty="0"/>
          </a:p>
        </p:txBody>
      </p:sp>
      <p:sp>
        <p:nvSpPr>
          <p:cNvPr id="3" name="Issue do slide (forma)"/>
          <p:cNvSpPr/>
          <p:nvPr/>
        </p:nvSpPr>
        <p:spPr>
          <a:xfrm>
            <a:off x="9262872" y="45720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ssue do slide"/>
          <p:cNvSpPr txBox="1"/>
          <p:nvPr/>
        </p:nvSpPr>
        <p:spPr>
          <a:xfrm>
            <a:off x="9262872" y="45720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Issue 22 · Projetos</a:t>
            </a:r>
            <a:endParaRPr lang="en-US" sz="1400" dirty="0"/>
          </a:p>
        </p:txBody>
      </p:sp>
      <p:sp>
        <p:nvSpPr>
          <p:cNvPr id="5" name="Janela de código"/>
          <p:cNvSpPr/>
          <p:nvPr/>
        </p:nvSpPr>
        <p:spPr>
          <a:xfrm>
            <a:off x="548640" y="1234440"/>
            <a:ext cx="6400800" cy="48006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onto da janela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onto da janela"/>
          <p:cNvSpPr/>
          <p:nvPr/>
        </p:nvSpPr>
        <p:spPr>
          <a:xfrm>
            <a:off x="960120" y="141732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onto da janela"/>
          <p:cNvSpPr/>
          <p:nvPr/>
        </p:nvSpPr>
        <p:spPr>
          <a:xfrm>
            <a:off x="1143000" y="141732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minho do arquivo"/>
          <p:cNvSpPr txBox="1"/>
          <p:nvPr/>
        </p:nvSpPr>
        <p:spPr>
          <a:xfrm>
            <a:off x="15087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src/routes/projetos/novo/+page.svelte</a:t>
            </a:r>
            <a:endParaRPr lang="en-US" sz="1200" dirty="0"/>
          </a:p>
        </p:txBody>
      </p:sp>
      <p:sp>
        <p:nvSpPr>
          <p:cNvPr id="10" name="Faixa 1"/>
          <p:cNvSpPr/>
          <p:nvPr/>
        </p:nvSpPr>
        <p:spPr>
          <a:xfrm>
            <a:off x="658368" y="1828800"/>
            <a:ext cx="6181344" cy="800100"/>
          </a:xfrm>
          <a:prstGeom prst="roundRect">
            <a:avLst>
              <a:gd name="adj" fmla="val 685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Número 1 (forma)"/>
          <p:cNvSpPr/>
          <p:nvPr/>
        </p:nvSpPr>
        <p:spPr>
          <a:xfrm>
            <a:off x="749808" y="184327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úmero 1"/>
          <p:cNvSpPr txBox="1"/>
          <p:nvPr/>
        </p:nvSpPr>
        <p:spPr>
          <a:xfrm>
            <a:off x="749808" y="18432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Faixa 2"/>
          <p:cNvSpPr/>
          <p:nvPr/>
        </p:nvSpPr>
        <p:spPr>
          <a:xfrm>
            <a:off x="658368" y="2895600"/>
            <a:ext cx="6181344" cy="1866900"/>
          </a:xfrm>
          <a:prstGeom prst="roundRect">
            <a:avLst>
              <a:gd name="adj" fmla="val 293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4" name="Número 2 (forma)"/>
          <p:cNvSpPr/>
          <p:nvPr/>
        </p:nvSpPr>
        <p:spPr>
          <a:xfrm>
            <a:off x="749808" y="291007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2"/>
          <p:cNvSpPr txBox="1"/>
          <p:nvPr/>
        </p:nvSpPr>
        <p:spPr>
          <a:xfrm>
            <a:off x="749808" y="2910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Faixa 3"/>
          <p:cNvSpPr/>
          <p:nvPr/>
        </p:nvSpPr>
        <p:spPr>
          <a:xfrm>
            <a:off x="658368" y="4762500"/>
            <a:ext cx="6181344" cy="800100"/>
          </a:xfrm>
          <a:prstGeom prst="roundRect">
            <a:avLst>
              <a:gd name="adj" fmla="val 6857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Número 3 (forma)"/>
          <p:cNvSpPr/>
          <p:nvPr/>
        </p:nvSpPr>
        <p:spPr>
          <a:xfrm>
            <a:off x="749808" y="477697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úmero 3"/>
          <p:cNvSpPr txBox="1"/>
          <p:nvPr/>
        </p:nvSpPr>
        <p:spPr>
          <a:xfrm>
            <a:off x="749808" y="47769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Código"/>
          <p:cNvSpPr txBox="1"/>
          <p:nvPr/>
        </p:nvSpPr>
        <p:spPr>
          <a:xfrm>
            <a:off x="1234440" y="1828800"/>
            <a:ext cx="553212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inicial: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CamposProjeto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descricao: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disciplina: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salvar(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dados: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CamposProjeto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&lt;string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projeto =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criarProjeto({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...dados,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criadoEm: hojeLocal()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`/projetos/${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encodeURIComponent(projeto.id)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}`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0" name="Rótulo da explicação"/>
          <p:cNvSpPr txBox="1"/>
          <p:nvPr/>
        </p:nvSpPr>
        <p:spPr>
          <a:xfrm>
            <a:off x="7360920" y="12344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 QUE O CÓDIGO FAZ</a:t>
            </a:r>
            <a:endParaRPr lang="en-US" sz="1200" dirty="0"/>
          </a:p>
        </p:txBody>
      </p:sp>
      <p:sp>
        <p:nvSpPr>
          <p:cNvPr id="21" name="Número 1 (forma)"/>
          <p:cNvSpPr/>
          <p:nvPr/>
        </p:nvSpPr>
        <p:spPr>
          <a:xfrm>
            <a:off x="7360920" y="17007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úmero 1"/>
          <p:cNvSpPr txBox="1"/>
          <p:nvPr/>
        </p:nvSpPr>
        <p:spPr>
          <a:xfrm>
            <a:off x="736092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Explicação 1"/>
          <p:cNvSpPr txBox="1"/>
          <p:nvPr/>
        </p:nvSpPr>
        <p:spPr>
          <a:xfrm>
            <a:off x="7909560" y="1691640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Campos iniciais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 cadastro, começam vazios; na edição, vêm do projeto.</a:t>
            </a:r>
            <a:endParaRPr lang="en-US" sz="1700" dirty="0"/>
          </a:p>
        </p:txBody>
      </p:sp>
      <p:sp>
        <p:nvSpPr>
          <p:cNvPr id="24" name="Número 2 (forma)"/>
          <p:cNvSpPr/>
          <p:nvPr/>
        </p:nvSpPr>
        <p:spPr>
          <a:xfrm>
            <a:off x="7360920" y="26517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Número 2"/>
          <p:cNvSpPr txBox="1"/>
          <p:nvPr/>
        </p:nvSpPr>
        <p:spPr>
          <a:xfrm>
            <a:off x="7360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Explicação 2"/>
          <p:cNvSpPr txBox="1"/>
          <p:nvPr/>
        </p:nvSpPr>
        <p:spPr>
          <a:xfrm>
            <a:off x="7909560" y="2642616"/>
            <a:ext cx="373075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Criar na API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salvar espera criarProjeto, que grava os campos (...dados) e a data de hoje em criadoEm.</a:t>
            </a:r>
            <a:endParaRPr lang="en-US" sz="1700" dirty="0"/>
          </a:p>
        </p:txBody>
      </p:sp>
      <p:sp>
        <p:nvSpPr>
          <p:cNvPr id="27" name="Número 3 (forma)"/>
          <p:cNvSpPr/>
          <p:nvPr/>
        </p:nvSpPr>
        <p:spPr>
          <a:xfrm>
            <a:off x="7360920" y="381762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Número 3"/>
          <p:cNvSpPr txBox="1"/>
          <p:nvPr/>
        </p:nvSpPr>
        <p:spPr>
          <a:xfrm>
            <a:off x="7360920" y="38176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Explicação 3"/>
          <p:cNvSpPr txBox="1"/>
          <p:nvPr/>
        </p:nvSpPr>
        <p:spPr>
          <a:xfrm>
            <a:off x="7909560" y="3808476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Para onde ir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Devolve o endereço do novo projeto; encodeURIComponent protege o id na URL.</a:t>
            </a:r>
            <a:endParaRPr lang="en-US" sz="1700" dirty="0"/>
          </a:p>
        </p:txBody>
      </p:sp>
      <p:sp>
        <p:nvSpPr>
          <p:cNvPr id="30" name="Resumo (forma)"/>
          <p:cNvSpPr/>
          <p:nvPr/>
        </p:nvSpPr>
        <p:spPr>
          <a:xfrm>
            <a:off x="7360920" y="5486400"/>
            <a:ext cx="4279392" cy="548640"/>
          </a:xfrm>
          <a:prstGeom prst="roundRect">
            <a:avLst>
              <a:gd name="adj" fmla="val 25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Resumo"/>
          <p:cNvSpPr txBox="1"/>
          <p:nvPr/>
        </p:nvSpPr>
        <p:spPr>
          <a:xfrm>
            <a:off x="7360920" y="5486400"/>
            <a:ext cx="42793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Um só FormularioProjeto para cadastrar e editar.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Validação e envio</a:t>
            </a:r>
            <a:endParaRPr lang="en-US" sz="3400" dirty="0"/>
          </a:p>
        </p:txBody>
      </p:sp>
      <p:sp>
        <p:nvSpPr>
          <p:cNvPr id="3" name="Issue do slide (forma)"/>
          <p:cNvSpPr/>
          <p:nvPr/>
        </p:nvSpPr>
        <p:spPr>
          <a:xfrm>
            <a:off x="9262872" y="45720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ssue do slide"/>
          <p:cNvSpPr txBox="1"/>
          <p:nvPr/>
        </p:nvSpPr>
        <p:spPr>
          <a:xfrm>
            <a:off x="9262872" y="45720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Issue 20 · Validação</a:t>
            </a:r>
            <a:endParaRPr lang="en-US" sz="1400" dirty="0"/>
          </a:p>
        </p:txBody>
      </p:sp>
      <p:sp>
        <p:nvSpPr>
          <p:cNvPr id="5" name="Janela de código"/>
          <p:cNvSpPr/>
          <p:nvPr/>
        </p:nvSpPr>
        <p:spPr>
          <a:xfrm>
            <a:off x="548640" y="1234440"/>
            <a:ext cx="6400800" cy="48006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onto da janela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onto da janela"/>
          <p:cNvSpPr/>
          <p:nvPr/>
        </p:nvSpPr>
        <p:spPr>
          <a:xfrm>
            <a:off x="960120" y="141732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onto da janela"/>
          <p:cNvSpPr/>
          <p:nvPr/>
        </p:nvSpPr>
        <p:spPr>
          <a:xfrm>
            <a:off x="1143000" y="141732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minho do arquivo"/>
          <p:cNvSpPr txBox="1"/>
          <p:nvPr/>
        </p:nvSpPr>
        <p:spPr>
          <a:xfrm>
            <a:off x="15087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src/lib/componentes/FormularioTarefa.svelte</a:t>
            </a:r>
            <a:endParaRPr lang="en-US" sz="1200" dirty="0"/>
          </a:p>
        </p:txBody>
      </p:sp>
      <p:sp>
        <p:nvSpPr>
          <p:cNvPr id="10" name="Faixa 1"/>
          <p:cNvSpPr/>
          <p:nvPr/>
        </p:nvSpPr>
        <p:spPr>
          <a:xfrm>
            <a:off x="658368" y="1828800"/>
            <a:ext cx="6181344" cy="533400"/>
          </a:xfrm>
          <a:prstGeom prst="roundRect">
            <a:avLst>
              <a:gd name="adj" fmla="val 1028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Número 1 (forma)"/>
          <p:cNvSpPr/>
          <p:nvPr/>
        </p:nvSpPr>
        <p:spPr>
          <a:xfrm>
            <a:off x="749808" y="184327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úmero 1"/>
          <p:cNvSpPr txBox="1"/>
          <p:nvPr/>
        </p:nvSpPr>
        <p:spPr>
          <a:xfrm>
            <a:off x="749808" y="18432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Faixa 2"/>
          <p:cNvSpPr/>
          <p:nvPr/>
        </p:nvSpPr>
        <p:spPr>
          <a:xfrm>
            <a:off x="658368" y="2628900"/>
            <a:ext cx="6181344" cy="533400"/>
          </a:xfrm>
          <a:prstGeom prst="roundRect">
            <a:avLst>
              <a:gd name="adj" fmla="val 10286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4" name="Número 2 (forma)"/>
          <p:cNvSpPr/>
          <p:nvPr/>
        </p:nvSpPr>
        <p:spPr>
          <a:xfrm>
            <a:off x="749808" y="264337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2"/>
          <p:cNvSpPr txBox="1"/>
          <p:nvPr/>
        </p:nvSpPr>
        <p:spPr>
          <a:xfrm>
            <a:off x="749808" y="26433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Faixa 3"/>
          <p:cNvSpPr/>
          <p:nvPr/>
        </p:nvSpPr>
        <p:spPr>
          <a:xfrm>
            <a:off x="658368" y="3162300"/>
            <a:ext cx="6181344" cy="266700"/>
          </a:xfrm>
          <a:prstGeom prst="roundRect">
            <a:avLst>
              <a:gd name="adj" fmla="val 20571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Número 3 (forma)"/>
          <p:cNvSpPr/>
          <p:nvPr/>
        </p:nvSpPr>
        <p:spPr>
          <a:xfrm>
            <a:off x="749808" y="317677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úmero 3"/>
          <p:cNvSpPr txBox="1"/>
          <p:nvPr/>
        </p:nvSpPr>
        <p:spPr>
          <a:xfrm>
            <a:off x="749808" y="31767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Código"/>
          <p:cNvSpPr txBox="1"/>
          <p:nvPr/>
        </p:nvSpPr>
        <p:spPr>
          <a:xfrm>
            <a:off x="1234440" y="1828800"/>
            <a:ext cx="553212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"tarefa-titulo"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bind:value={dados.titulo} required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disabled={enviando || carregandoProjetos}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{enviando ?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"Salvando..."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textoEnvio}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</p:txBody>
      </p:sp>
      <p:sp>
        <p:nvSpPr>
          <p:cNvPr id="20" name="Estado 1 (painel)"/>
          <p:cNvSpPr/>
          <p:nvPr/>
        </p:nvSpPr>
        <p:spPr>
          <a:xfrm>
            <a:off x="868680" y="4061460"/>
            <a:ext cx="27432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Estado 1 (legenda)"/>
          <p:cNvSpPr txBox="1"/>
          <p:nvPr/>
        </p:nvSpPr>
        <p:spPr>
          <a:xfrm>
            <a:off x="1051560" y="41986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enviando = false</a:t>
            </a:r>
            <a:endParaRPr lang="en-US" sz="1200" dirty="0"/>
          </a:p>
        </p:txBody>
      </p:sp>
      <p:sp>
        <p:nvSpPr>
          <p:cNvPr id="22" name="Botão do estado 1 (forma)"/>
          <p:cNvSpPr/>
          <p:nvPr/>
        </p:nvSpPr>
        <p:spPr>
          <a:xfrm>
            <a:off x="1143000" y="465582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Botão do estado 1"/>
          <p:cNvSpPr txBox="1"/>
          <p:nvPr/>
        </p:nvSpPr>
        <p:spPr>
          <a:xfrm>
            <a:off x="1143000" y="465582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Salvar alterações</a:t>
            </a:r>
            <a:endParaRPr lang="en-US" sz="1400" dirty="0"/>
          </a:p>
        </p:txBody>
      </p:sp>
      <p:sp>
        <p:nvSpPr>
          <p:cNvPr id="24" name="Estado 2 (painel)"/>
          <p:cNvSpPr/>
          <p:nvPr/>
        </p:nvSpPr>
        <p:spPr>
          <a:xfrm>
            <a:off x="4069080" y="4061460"/>
            <a:ext cx="27432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Estado 2 (legenda)"/>
          <p:cNvSpPr txBox="1"/>
          <p:nvPr/>
        </p:nvSpPr>
        <p:spPr>
          <a:xfrm>
            <a:off x="4251960" y="41986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enviando = true (disabled)</a:t>
            </a:r>
            <a:endParaRPr lang="en-US" sz="1200" dirty="0"/>
          </a:p>
        </p:txBody>
      </p:sp>
      <p:sp>
        <p:nvSpPr>
          <p:cNvPr id="26" name="Botão do estado 2 (forma)"/>
          <p:cNvSpPr/>
          <p:nvPr/>
        </p:nvSpPr>
        <p:spPr>
          <a:xfrm>
            <a:off x="4343400" y="4655820"/>
            <a:ext cx="219456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Botão do estado 2"/>
          <p:cNvSpPr txBox="1"/>
          <p:nvPr/>
        </p:nvSpPr>
        <p:spPr>
          <a:xfrm>
            <a:off x="4343400" y="465582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Salvando...</a:t>
            </a:r>
            <a:endParaRPr lang="en-US" sz="1400" dirty="0"/>
          </a:p>
        </p:txBody>
      </p:sp>
      <p:sp>
        <p:nvSpPr>
          <p:cNvPr id="28" name="Seta de estado"/>
          <p:cNvSpPr/>
          <p:nvPr/>
        </p:nvSpPr>
        <p:spPr>
          <a:xfrm>
            <a:off x="3703320" y="4637532"/>
            <a:ext cx="274320" cy="219456"/>
          </a:xfrm>
          <a:prstGeom prst="rightArrow">
            <a:avLst/>
          </a:prstGeom>
          <a:solidFill>
            <a:schemeClr val="bg2">
              <a:alpha val="7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Rótulo da explicação"/>
          <p:cNvSpPr txBox="1"/>
          <p:nvPr/>
        </p:nvSpPr>
        <p:spPr>
          <a:xfrm>
            <a:off x="7360920" y="12344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 QUE O CÓDIGO FAZ</a:t>
            </a:r>
            <a:endParaRPr lang="en-US" sz="1200" dirty="0"/>
          </a:p>
        </p:txBody>
      </p:sp>
      <p:sp>
        <p:nvSpPr>
          <p:cNvPr id="30" name="Número 1 (forma)"/>
          <p:cNvSpPr/>
          <p:nvPr/>
        </p:nvSpPr>
        <p:spPr>
          <a:xfrm>
            <a:off x="7360920" y="17007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Número 1"/>
          <p:cNvSpPr txBox="1"/>
          <p:nvPr/>
        </p:nvSpPr>
        <p:spPr>
          <a:xfrm>
            <a:off x="736092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Explicação 1"/>
          <p:cNvSpPr txBox="1"/>
          <p:nvPr/>
        </p:nvSpPr>
        <p:spPr>
          <a:xfrm>
            <a:off x="7909560" y="1691640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Campo obrigatório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bind:value liga o campo ao estado; required impede o envio com o campo vazio.</a:t>
            </a:r>
            <a:endParaRPr lang="en-US" sz="1700" dirty="0"/>
          </a:p>
        </p:txBody>
      </p:sp>
      <p:sp>
        <p:nvSpPr>
          <p:cNvPr id="33" name="Número 2 (forma)"/>
          <p:cNvSpPr/>
          <p:nvPr/>
        </p:nvSpPr>
        <p:spPr>
          <a:xfrm>
            <a:off x="7360920" y="26517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Número 2"/>
          <p:cNvSpPr txBox="1"/>
          <p:nvPr/>
        </p:nvSpPr>
        <p:spPr>
          <a:xfrm>
            <a:off x="7360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Explicação 2"/>
          <p:cNvSpPr txBox="1"/>
          <p:nvPr/>
        </p:nvSpPr>
        <p:spPr>
          <a:xfrm>
            <a:off x="7909560" y="2642616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Botão bloqueado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disabled fica true enquanto envia ou carrega os projetos: sem envio duplo.</a:t>
            </a:r>
            <a:endParaRPr lang="en-US" sz="1700" dirty="0"/>
          </a:p>
        </p:txBody>
      </p:sp>
      <p:sp>
        <p:nvSpPr>
          <p:cNvPr id="36" name="Número 3 (forma)"/>
          <p:cNvSpPr/>
          <p:nvPr/>
        </p:nvSpPr>
        <p:spPr>
          <a:xfrm>
            <a:off x="7360920" y="360273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Número 3"/>
          <p:cNvSpPr txBox="1"/>
          <p:nvPr/>
        </p:nvSpPr>
        <p:spPr>
          <a:xfrm>
            <a:off x="736092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Explicação 3"/>
          <p:cNvSpPr txBox="1"/>
          <p:nvPr/>
        </p:nvSpPr>
        <p:spPr>
          <a:xfrm>
            <a:off x="7909560" y="3593592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Texto que muda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Mostra “Salvando...” durante o envio; fora dele, o textoEnvio recebido.</a:t>
            </a:r>
            <a:endParaRPr lang="en-US" sz="1700" dirty="0"/>
          </a:p>
        </p:txBody>
      </p:sp>
      <p:sp>
        <p:nvSpPr>
          <p:cNvPr id="39" name="Resumo (forma)"/>
          <p:cNvSpPr/>
          <p:nvPr/>
        </p:nvSpPr>
        <p:spPr>
          <a:xfrm>
            <a:off x="7360920" y="5486400"/>
            <a:ext cx="4279392" cy="548640"/>
          </a:xfrm>
          <a:prstGeom prst="roundRect">
            <a:avLst>
              <a:gd name="adj" fmla="val 25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Resumo"/>
          <p:cNvSpPr txBox="1"/>
          <p:nvPr/>
        </p:nvSpPr>
        <p:spPr>
          <a:xfrm>
            <a:off x="7360920" y="5486400"/>
            <a:ext cx="42793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 a API falhar, o erro aparece em texto na tela.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Acessibilidade do formulário</a:t>
            </a:r>
            <a:endParaRPr lang="en-US" sz="3400" dirty="0"/>
          </a:p>
        </p:txBody>
      </p:sp>
      <p:sp>
        <p:nvSpPr>
          <p:cNvPr id="3" name="Issue do slide (forma)"/>
          <p:cNvSpPr/>
          <p:nvPr/>
        </p:nvSpPr>
        <p:spPr>
          <a:xfrm>
            <a:off x="9262872" y="45720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ssue do slide"/>
          <p:cNvSpPr txBox="1"/>
          <p:nvPr/>
        </p:nvSpPr>
        <p:spPr>
          <a:xfrm>
            <a:off x="9262872" y="45720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Issue 21 · Acessibilidade</a:t>
            </a:r>
            <a:endParaRPr lang="en-US" sz="1400" dirty="0"/>
          </a:p>
        </p:txBody>
      </p:sp>
      <p:sp>
        <p:nvSpPr>
          <p:cNvPr id="5" name="Janela de código"/>
          <p:cNvSpPr/>
          <p:nvPr/>
        </p:nvSpPr>
        <p:spPr>
          <a:xfrm>
            <a:off x="548640" y="1234440"/>
            <a:ext cx="6400800" cy="48006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onto da janela"/>
          <p:cNvSpPr/>
          <p:nvPr/>
        </p:nvSpPr>
        <p:spPr>
          <a:xfrm>
            <a:off x="777240" y="141732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onto da janela"/>
          <p:cNvSpPr/>
          <p:nvPr/>
        </p:nvSpPr>
        <p:spPr>
          <a:xfrm>
            <a:off x="960120" y="1417320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onto da janela"/>
          <p:cNvSpPr/>
          <p:nvPr/>
        </p:nvSpPr>
        <p:spPr>
          <a:xfrm>
            <a:off x="1143000" y="141732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minho do arquivo"/>
          <p:cNvSpPr txBox="1"/>
          <p:nvPr/>
        </p:nvSpPr>
        <p:spPr>
          <a:xfrm>
            <a:off x="15087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src/lib/utils/acessibilidadeFormulario.ts</a:t>
            </a:r>
            <a:endParaRPr lang="en-US" sz="1200" dirty="0"/>
          </a:p>
        </p:txBody>
      </p:sp>
      <p:sp>
        <p:nvSpPr>
          <p:cNvPr id="10" name="Faixa 1"/>
          <p:cNvSpPr/>
          <p:nvPr/>
        </p:nvSpPr>
        <p:spPr>
          <a:xfrm>
            <a:off x="658368" y="1828800"/>
            <a:ext cx="6181344" cy="266700"/>
          </a:xfrm>
          <a:prstGeom prst="roundRect">
            <a:avLst>
              <a:gd name="adj" fmla="val 2057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Número 1 (forma)"/>
          <p:cNvSpPr/>
          <p:nvPr/>
        </p:nvSpPr>
        <p:spPr>
          <a:xfrm>
            <a:off x="749808" y="184327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úmero 1"/>
          <p:cNvSpPr txBox="1"/>
          <p:nvPr/>
        </p:nvSpPr>
        <p:spPr>
          <a:xfrm>
            <a:off x="749808" y="18432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Faixa 2"/>
          <p:cNvSpPr/>
          <p:nvPr/>
        </p:nvSpPr>
        <p:spPr>
          <a:xfrm>
            <a:off x="658368" y="2095500"/>
            <a:ext cx="6181344" cy="800100"/>
          </a:xfrm>
          <a:prstGeom prst="roundRect">
            <a:avLst>
              <a:gd name="adj" fmla="val 6857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4" name="Número 2 (forma)"/>
          <p:cNvSpPr/>
          <p:nvPr/>
        </p:nvSpPr>
        <p:spPr>
          <a:xfrm>
            <a:off x="749808" y="210997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2"/>
          <p:cNvSpPr txBox="1"/>
          <p:nvPr/>
        </p:nvSpPr>
        <p:spPr>
          <a:xfrm>
            <a:off x="749808" y="21099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Faixa 3"/>
          <p:cNvSpPr/>
          <p:nvPr/>
        </p:nvSpPr>
        <p:spPr>
          <a:xfrm>
            <a:off x="658368" y="3162300"/>
            <a:ext cx="6181344" cy="1333500"/>
          </a:xfrm>
          <a:prstGeom prst="roundRect">
            <a:avLst>
              <a:gd name="adj" fmla="val 411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Número 3 (forma)"/>
          <p:cNvSpPr/>
          <p:nvPr/>
        </p:nvSpPr>
        <p:spPr>
          <a:xfrm>
            <a:off x="749808" y="317677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úmero 3"/>
          <p:cNvSpPr txBox="1"/>
          <p:nvPr/>
        </p:nvSpPr>
        <p:spPr>
          <a:xfrm>
            <a:off x="749808" y="31767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Faixa 4"/>
          <p:cNvSpPr/>
          <p:nvPr/>
        </p:nvSpPr>
        <p:spPr>
          <a:xfrm>
            <a:off x="658368" y="4762500"/>
            <a:ext cx="6181344" cy="800100"/>
          </a:xfrm>
          <a:prstGeom prst="roundRect">
            <a:avLst>
              <a:gd name="adj" fmla="val 6857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0" name="Número 4 (forma)"/>
          <p:cNvSpPr/>
          <p:nvPr/>
        </p:nvSpPr>
        <p:spPr>
          <a:xfrm>
            <a:off x="749808" y="4776978"/>
            <a:ext cx="237744" cy="2377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Número 4"/>
          <p:cNvSpPr txBox="1"/>
          <p:nvPr/>
        </p:nvSpPr>
        <p:spPr>
          <a:xfrm>
            <a:off x="749808" y="47769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Código"/>
          <p:cNvSpPr txBox="1"/>
          <p:nvPr/>
        </p:nvSpPr>
        <p:spPr>
          <a:xfrm>
            <a:off x="1234440" y="1828800"/>
            <a:ext cx="5532120" cy="373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mensagem.setAttribute(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'role'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'alert'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campo.insertAdjacentElement(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'afterend'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mensagem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campo.setAttribute(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'aria-describedby'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[descricoes, mensagem.id]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.filter(Boolean).join(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campo.setAttribute(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'aria-invalid'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'true'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23" name="Rótulo da explicação"/>
          <p:cNvSpPr txBox="1"/>
          <p:nvPr/>
        </p:nvSpPr>
        <p:spPr>
          <a:xfrm>
            <a:off x="7360920" y="12344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 QUE O CÓDIGO FAZ</a:t>
            </a:r>
            <a:endParaRPr lang="en-US" sz="1200" dirty="0"/>
          </a:p>
        </p:txBody>
      </p:sp>
      <p:sp>
        <p:nvSpPr>
          <p:cNvPr id="24" name="Número 1 (forma)"/>
          <p:cNvSpPr/>
          <p:nvPr/>
        </p:nvSpPr>
        <p:spPr>
          <a:xfrm>
            <a:off x="7360920" y="170078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úmero 1"/>
          <p:cNvSpPr txBox="1"/>
          <p:nvPr/>
        </p:nvSpPr>
        <p:spPr>
          <a:xfrm>
            <a:off x="736092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Explicação 1"/>
          <p:cNvSpPr txBox="1"/>
          <p:nvPr/>
        </p:nvSpPr>
        <p:spPr>
          <a:xfrm>
            <a:off x="7909560" y="1691640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Aviso anunciado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role="alert" faz o leitor de tela anunciar a mensagem assim que ela aparece.</a:t>
            </a:r>
            <a:endParaRPr lang="en-US" sz="1700" dirty="0"/>
          </a:p>
        </p:txBody>
      </p:sp>
      <p:sp>
        <p:nvSpPr>
          <p:cNvPr id="27" name="Número 2 (forma)"/>
          <p:cNvSpPr/>
          <p:nvPr/>
        </p:nvSpPr>
        <p:spPr>
          <a:xfrm>
            <a:off x="7360920" y="2651760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Número 2"/>
          <p:cNvSpPr txBox="1"/>
          <p:nvPr/>
        </p:nvSpPr>
        <p:spPr>
          <a:xfrm>
            <a:off x="736092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Explicação 2"/>
          <p:cNvSpPr txBox="1"/>
          <p:nvPr/>
        </p:nvSpPr>
        <p:spPr>
          <a:xfrm>
            <a:off x="7909560" y="2642616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Erro junto ao campo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insertAdjacentElement põe a mensagem logo depois do campo (afterend).</a:t>
            </a:r>
            <a:endParaRPr lang="en-US" sz="1700" dirty="0"/>
          </a:p>
        </p:txBody>
      </p:sp>
      <p:sp>
        <p:nvSpPr>
          <p:cNvPr id="30" name="Número 3 (forma)"/>
          <p:cNvSpPr/>
          <p:nvPr/>
        </p:nvSpPr>
        <p:spPr>
          <a:xfrm>
            <a:off x="7360920" y="360273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Número 3"/>
          <p:cNvSpPr txBox="1"/>
          <p:nvPr/>
        </p:nvSpPr>
        <p:spPr>
          <a:xfrm>
            <a:off x="736092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Explicação 3"/>
          <p:cNvSpPr txBox="1"/>
          <p:nvPr/>
        </p:nvSpPr>
        <p:spPr>
          <a:xfrm>
            <a:off x="7909560" y="3593592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Campo ligado ao aviso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aria-describedby associa a mensagem ao campo; filter(Boolean) descarta vazios.</a:t>
            </a:r>
            <a:endParaRPr lang="en-US" sz="1700" dirty="0"/>
          </a:p>
        </p:txBody>
      </p:sp>
      <p:sp>
        <p:nvSpPr>
          <p:cNvPr id="33" name="Número 4 (forma)"/>
          <p:cNvSpPr/>
          <p:nvPr/>
        </p:nvSpPr>
        <p:spPr>
          <a:xfrm>
            <a:off x="7360920" y="4553712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Número 4"/>
          <p:cNvSpPr txBox="1"/>
          <p:nvPr/>
        </p:nvSpPr>
        <p:spPr>
          <a:xfrm>
            <a:off x="736092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Explicação 4"/>
          <p:cNvSpPr txBox="1"/>
          <p:nvPr/>
        </p:nvSpPr>
        <p:spPr>
          <a:xfrm>
            <a:off x="7909560" y="4544568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Valor inválido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aria-invalid="true" marca o campo como incorreto para tecnologias assistivas.</a:t>
            </a:r>
            <a:endParaRPr lang="en-US" sz="1700" dirty="0"/>
          </a:p>
        </p:txBody>
      </p:sp>
      <p:sp>
        <p:nvSpPr>
          <p:cNvPr id="36" name="Resumo (forma)"/>
          <p:cNvSpPr/>
          <p:nvPr/>
        </p:nvSpPr>
        <p:spPr>
          <a:xfrm>
            <a:off x="7360920" y="5486400"/>
            <a:ext cx="4279392" cy="548640"/>
          </a:xfrm>
          <a:prstGeom prst="roundRect">
            <a:avLst>
              <a:gd name="adj" fmla="val 25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Resumo"/>
          <p:cNvSpPr txBox="1"/>
          <p:nvPr/>
        </p:nvSpPr>
        <p:spPr>
          <a:xfrm>
            <a:off x="7360920" y="5486400"/>
            <a:ext cx="42793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Label em todo campo · Tab e Enter · erro em texto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Demonstração</a:t>
            </a:r>
            <a:endParaRPr lang="en-US" sz="3400" dirty="0"/>
          </a:p>
        </p:txBody>
      </p:sp>
      <p:sp>
        <p:nvSpPr>
          <p:cNvPr id="3" name="Tempo da demonstração (forma)"/>
          <p:cNvSpPr/>
          <p:nvPr/>
        </p:nvSpPr>
        <p:spPr>
          <a:xfrm>
            <a:off x="9262872" y="45720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mpo da demonstração"/>
          <p:cNvSpPr txBox="1"/>
          <p:nvPr/>
        </p:nvSpPr>
        <p:spPr>
          <a:xfrm>
            <a:off x="9262872" y="457200"/>
            <a:ext cx="2377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≈ 75 segundos</a:t>
            </a:r>
            <a:endParaRPr lang="en-US" sz="1400" dirty="0"/>
          </a:p>
        </p:txBody>
      </p:sp>
      <p:sp>
        <p:nvSpPr>
          <p:cNvPr id="5" name="Etapa 1 (cartão)"/>
          <p:cNvSpPr/>
          <p:nvPr/>
        </p:nvSpPr>
        <p:spPr>
          <a:xfrm>
            <a:off x="548640" y="1371600"/>
            <a:ext cx="2423160" cy="4114800"/>
          </a:xfrm>
          <a:prstGeom prst="roundRect">
            <a:avLst>
              <a:gd name="adj" fmla="val 56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Número 1 (forma)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úmero 1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mpo 1"/>
          <p:cNvSpPr txBox="1"/>
          <p:nvPr/>
        </p:nvSpPr>
        <p:spPr>
          <a:xfrm>
            <a:off x="187452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0–15 s</a:t>
            </a:r>
            <a:endParaRPr lang="en-US" sz="1200" dirty="0"/>
          </a:p>
        </p:txBody>
      </p:sp>
      <p:sp>
        <p:nvSpPr>
          <p:cNvPr id="9" name="Título da etapa 1"/>
          <p:cNvSpPr txBox="1"/>
          <p:nvPr/>
        </p:nvSpPr>
        <p:spPr>
          <a:xfrm>
            <a:off x="822960" y="25603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Novo projeto</a:t>
            </a:r>
            <a:endParaRPr lang="en-US" sz="2000" dirty="0"/>
          </a:p>
        </p:txBody>
      </p:sp>
      <p:sp>
        <p:nvSpPr>
          <p:cNvPr id="10" name="Descrição da etapa 1"/>
          <p:cNvSpPr txBox="1"/>
          <p:nvPr/>
        </p:nvSpPr>
        <p:spPr>
          <a:xfrm>
            <a:off x="822960" y="33375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Cadastrar um projeto e abrir o detalhe dele.</a:t>
            </a:r>
            <a:endParaRPr lang="en-US" sz="1400" dirty="0"/>
          </a:p>
        </p:txBody>
      </p:sp>
      <p:sp>
        <p:nvSpPr>
          <p:cNvPr id="11" name="Rota 1 (forma)"/>
          <p:cNvSpPr/>
          <p:nvPr/>
        </p:nvSpPr>
        <p:spPr>
          <a:xfrm>
            <a:off x="822960" y="4572000"/>
            <a:ext cx="187452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Rota 1"/>
          <p:cNvSpPr txBox="1"/>
          <p:nvPr/>
        </p:nvSpPr>
        <p:spPr>
          <a:xfrm>
            <a:off x="822960" y="4572000"/>
            <a:ext cx="1874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/projetos/novo</a:t>
            </a:r>
            <a:endParaRPr lang="en-US" sz="1100" dirty="0"/>
          </a:p>
        </p:txBody>
      </p:sp>
      <p:sp>
        <p:nvSpPr>
          <p:cNvPr id="13" name="Issue da etapa 1"/>
          <p:cNvSpPr txBox="1"/>
          <p:nvPr/>
        </p:nvSpPr>
        <p:spPr>
          <a:xfrm>
            <a:off x="822960" y="4983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Issue 22</a:t>
            </a:r>
            <a:endParaRPr lang="en-US" sz="1200" dirty="0"/>
          </a:p>
        </p:txBody>
      </p:sp>
      <p:sp>
        <p:nvSpPr>
          <p:cNvPr id="14" name="Seta 1"/>
          <p:cNvSpPr/>
          <p:nvPr/>
        </p:nvSpPr>
        <p:spPr>
          <a:xfrm>
            <a:off x="3063240" y="3291840"/>
            <a:ext cx="283464" cy="274320"/>
          </a:xfrm>
          <a:prstGeom prst="rightArrow">
            <a:avLst/>
          </a:prstGeom>
          <a:solidFill>
            <a:schemeClr val="bg2">
              <a:alpha val="6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tapa 2 (cartão)"/>
          <p:cNvSpPr/>
          <p:nvPr/>
        </p:nvSpPr>
        <p:spPr>
          <a:xfrm>
            <a:off x="3438144" y="1371600"/>
            <a:ext cx="2423160" cy="4114800"/>
          </a:xfrm>
          <a:prstGeom prst="roundRect">
            <a:avLst>
              <a:gd name="adj" fmla="val 56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Número 2 (forma)"/>
          <p:cNvSpPr/>
          <p:nvPr/>
        </p:nvSpPr>
        <p:spPr>
          <a:xfrm>
            <a:off x="3712464" y="1645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Número 2"/>
          <p:cNvSpPr txBox="1"/>
          <p:nvPr/>
        </p:nvSpPr>
        <p:spPr>
          <a:xfrm>
            <a:off x="37124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8" name="Tempo 2"/>
          <p:cNvSpPr txBox="1"/>
          <p:nvPr/>
        </p:nvSpPr>
        <p:spPr>
          <a:xfrm>
            <a:off x="4764024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15–30 s</a:t>
            </a:r>
            <a:endParaRPr lang="en-US" sz="1200" dirty="0"/>
          </a:p>
        </p:txBody>
      </p:sp>
      <p:sp>
        <p:nvSpPr>
          <p:cNvPr id="19" name="Título da etapa 2"/>
          <p:cNvSpPr txBox="1"/>
          <p:nvPr/>
        </p:nvSpPr>
        <p:spPr>
          <a:xfrm>
            <a:off x="3712464" y="25603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Nova tarefa</a:t>
            </a:r>
            <a:endParaRPr lang="en-US" sz="2000" dirty="0"/>
          </a:p>
        </p:txBody>
      </p:sp>
      <p:sp>
        <p:nvSpPr>
          <p:cNvPr id="20" name="Descrição da etapa 2"/>
          <p:cNvSpPr txBox="1"/>
          <p:nvPr/>
        </p:nvSpPr>
        <p:spPr>
          <a:xfrm>
            <a:off x="3712464" y="33375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Abrir o cadastro a partir desse projeto, que já vem selecionado.</a:t>
            </a:r>
            <a:endParaRPr lang="en-US" sz="1400" dirty="0"/>
          </a:p>
        </p:txBody>
      </p:sp>
      <p:sp>
        <p:nvSpPr>
          <p:cNvPr id="21" name="Rota 2 (forma)"/>
          <p:cNvSpPr/>
          <p:nvPr/>
        </p:nvSpPr>
        <p:spPr>
          <a:xfrm>
            <a:off x="3712464" y="4572000"/>
            <a:ext cx="1874520" cy="365760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Rota 2"/>
          <p:cNvSpPr txBox="1"/>
          <p:nvPr/>
        </p:nvSpPr>
        <p:spPr>
          <a:xfrm>
            <a:off x="3712464" y="4572000"/>
            <a:ext cx="1874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/tarefas/nova</a:t>
            </a:r>
            <a:endParaRPr lang="en-US" sz="1100" dirty="0"/>
          </a:p>
        </p:txBody>
      </p:sp>
      <p:sp>
        <p:nvSpPr>
          <p:cNvPr id="23" name="Issue da etapa 2"/>
          <p:cNvSpPr txBox="1"/>
          <p:nvPr/>
        </p:nvSpPr>
        <p:spPr>
          <a:xfrm>
            <a:off x="3712464" y="4983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Issue 18</a:t>
            </a:r>
            <a:endParaRPr lang="en-US" sz="1200" dirty="0"/>
          </a:p>
        </p:txBody>
      </p:sp>
      <p:sp>
        <p:nvSpPr>
          <p:cNvPr id="24" name="Seta 2"/>
          <p:cNvSpPr/>
          <p:nvPr/>
        </p:nvSpPr>
        <p:spPr>
          <a:xfrm>
            <a:off x="5952744" y="3291840"/>
            <a:ext cx="283464" cy="274320"/>
          </a:xfrm>
          <a:prstGeom prst="rightArrow">
            <a:avLst/>
          </a:prstGeom>
          <a:solidFill>
            <a:schemeClr val="bg2">
              <a:alpha val="6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Etapa 3 (cartão)"/>
          <p:cNvSpPr/>
          <p:nvPr/>
        </p:nvSpPr>
        <p:spPr>
          <a:xfrm>
            <a:off x="6327648" y="1371600"/>
            <a:ext cx="2423160" cy="4114800"/>
          </a:xfrm>
          <a:prstGeom prst="roundRect">
            <a:avLst>
              <a:gd name="adj" fmla="val 56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Número 3 (forma)"/>
          <p:cNvSpPr/>
          <p:nvPr/>
        </p:nvSpPr>
        <p:spPr>
          <a:xfrm>
            <a:off x="6601968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Número 3"/>
          <p:cNvSpPr txBox="1"/>
          <p:nvPr/>
        </p:nvSpPr>
        <p:spPr>
          <a:xfrm>
            <a:off x="660196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28" name="Tempo 3"/>
          <p:cNvSpPr txBox="1"/>
          <p:nvPr/>
        </p:nvSpPr>
        <p:spPr>
          <a:xfrm>
            <a:off x="7653528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30–50 s</a:t>
            </a:r>
            <a:endParaRPr lang="en-US" sz="1200" dirty="0"/>
          </a:p>
        </p:txBody>
      </p:sp>
      <p:sp>
        <p:nvSpPr>
          <p:cNvPr id="29" name="Título da etapa 3"/>
          <p:cNvSpPr txBox="1"/>
          <p:nvPr/>
        </p:nvSpPr>
        <p:spPr>
          <a:xfrm>
            <a:off x="6601968" y="25603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Erro no formulário</a:t>
            </a:r>
            <a:endParaRPr lang="en-US" sz="2000" dirty="0"/>
          </a:p>
        </p:txBody>
      </p:sp>
      <p:sp>
        <p:nvSpPr>
          <p:cNvPr id="30" name="Descrição da etapa 3"/>
          <p:cNvSpPr txBox="1"/>
          <p:nvPr/>
        </p:nvSpPr>
        <p:spPr>
          <a:xfrm>
            <a:off x="6601968" y="33375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Enviar vazio, ver o aviso e o foco, corrigir os campos e salvar.</a:t>
            </a:r>
            <a:endParaRPr lang="en-US" sz="1400" dirty="0"/>
          </a:p>
        </p:txBody>
      </p:sp>
      <p:sp>
        <p:nvSpPr>
          <p:cNvPr id="31" name="Rota 3 (forma)"/>
          <p:cNvSpPr/>
          <p:nvPr/>
        </p:nvSpPr>
        <p:spPr>
          <a:xfrm>
            <a:off x="6601968" y="4572000"/>
            <a:ext cx="1874520" cy="365760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Rota 3"/>
          <p:cNvSpPr txBox="1"/>
          <p:nvPr/>
        </p:nvSpPr>
        <p:spPr>
          <a:xfrm>
            <a:off x="6601968" y="4572000"/>
            <a:ext cx="1874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formulário</a:t>
            </a:r>
            <a:endParaRPr lang="en-US" sz="1100" dirty="0"/>
          </a:p>
        </p:txBody>
      </p:sp>
      <p:sp>
        <p:nvSpPr>
          <p:cNvPr id="33" name="Issue da etapa 3"/>
          <p:cNvSpPr txBox="1"/>
          <p:nvPr/>
        </p:nvSpPr>
        <p:spPr>
          <a:xfrm>
            <a:off x="6601968" y="4983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Issues 20 e 21</a:t>
            </a:r>
            <a:endParaRPr lang="en-US" sz="1200" dirty="0"/>
          </a:p>
        </p:txBody>
      </p:sp>
      <p:sp>
        <p:nvSpPr>
          <p:cNvPr id="34" name="Seta 3"/>
          <p:cNvSpPr/>
          <p:nvPr/>
        </p:nvSpPr>
        <p:spPr>
          <a:xfrm>
            <a:off x="8842248" y="3291840"/>
            <a:ext cx="283464" cy="274320"/>
          </a:xfrm>
          <a:prstGeom prst="rightArrow">
            <a:avLst/>
          </a:prstGeom>
          <a:solidFill>
            <a:schemeClr val="bg2">
              <a:alpha val="6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Etapa 4 (cartão)"/>
          <p:cNvSpPr/>
          <p:nvPr/>
        </p:nvSpPr>
        <p:spPr>
          <a:xfrm>
            <a:off x="9217152" y="1371600"/>
            <a:ext cx="2423160" cy="4114800"/>
          </a:xfrm>
          <a:prstGeom prst="roundRect">
            <a:avLst>
              <a:gd name="adj" fmla="val 56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Número 4 (forma)"/>
          <p:cNvSpPr/>
          <p:nvPr/>
        </p:nvSpPr>
        <p:spPr>
          <a:xfrm>
            <a:off x="9491472" y="16459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Número 4"/>
          <p:cNvSpPr txBox="1"/>
          <p:nvPr/>
        </p:nvSpPr>
        <p:spPr>
          <a:xfrm>
            <a:off x="949147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38" name="Tempo 4"/>
          <p:cNvSpPr txBox="1"/>
          <p:nvPr/>
        </p:nvSpPr>
        <p:spPr>
          <a:xfrm>
            <a:off x="10543032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50–75 s</a:t>
            </a:r>
            <a:endParaRPr lang="en-US" sz="1200" dirty="0"/>
          </a:p>
        </p:txBody>
      </p:sp>
      <p:sp>
        <p:nvSpPr>
          <p:cNvPr id="39" name="Título da etapa 4"/>
          <p:cNvSpPr txBox="1"/>
          <p:nvPr/>
        </p:nvSpPr>
        <p:spPr>
          <a:xfrm>
            <a:off x="9491472" y="25603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Edição</a:t>
            </a:r>
            <a:endParaRPr lang="en-US" sz="2000" dirty="0"/>
          </a:p>
        </p:txBody>
      </p:sp>
      <p:sp>
        <p:nvSpPr>
          <p:cNvPr id="40" name="Descrição da etapa 4"/>
          <p:cNvSpPr txBox="1"/>
          <p:nvPr/>
        </p:nvSpPr>
        <p:spPr>
          <a:xfrm>
            <a:off x="9491472" y="33375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Alterar o título da tarefa e conferir no detalhe.</a:t>
            </a:r>
            <a:endParaRPr lang="en-US" sz="1400" dirty="0"/>
          </a:p>
        </p:txBody>
      </p:sp>
      <p:sp>
        <p:nvSpPr>
          <p:cNvPr id="41" name="Rota 4 (forma)"/>
          <p:cNvSpPr/>
          <p:nvPr/>
        </p:nvSpPr>
        <p:spPr>
          <a:xfrm>
            <a:off x="9491472" y="4572000"/>
            <a:ext cx="1874520" cy="365760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Rota 4"/>
          <p:cNvSpPr txBox="1"/>
          <p:nvPr/>
        </p:nvSpPr>
        <p:spPr>
          <a:xfrm>
            <a:off x="9491472" y="4572000"/>
            <a:ext cx="1874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/tarefas/:id/editar</a:t>
            </a:r>
            <a:endParaRPr lang="en-US" sz="1100" dirty="0"/>
          </a:p>
        </p:txBody>
      </p:sp>
      <p:sp>
        <p:nvSpPr>
          <p:cNvPr id="43" name="Issue da etapa 4"/>
          <p:cNvSpPr txBox="1"/>
          <p:nvPr/>
        </p:nvSpPr>
        <p:spPr>
          <a:xfrm>
            <a:off x="9491472" y="4983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Issue 19</a:t>
            </a:r>
            <a:endParaRPr lang="en-US" sz="1200" dirty="0"/>
          </a:p>
        </p:txBody>
      </p:sp>
      <p:sp>
        <p:nvSpPr>
          <p:cNvPr id="44" name="Dica de teclado (forma)"/>
          <p:cNvSpPr/>
          <p:nvPr/>
        </p:nvSpPr>
        <p:spPr>
          <a:xfrm>
            <a:off x="548640" y="5669280"/>
            <a:ext cx="11091672" cy="457200"/>
          </a:xfrm>
          <a:prstGeom prst="roundRect">
            <a:avLst>
              <a:gd name="adj" fmla="val 30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Dica de teclado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Durante a demonstração: Tab para navegar, Enter para enviar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355080"/>
            <a:ext cx="13990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co3">
  <a:themeElements>
    <a:clrScheme name="Marco3">
      <a:dk1>
        <a:srgbClr val="0B1626"/>
      </a:dk1>
      <a:lt1>
        <a:srgbClr val="FFFFFF"/>
      </a:lt1>
      <a:dk2>
        <a:srgbClr val="15263F"/>
      </a:dk2>
      <a:lt2>
        <a:srgbClr val="C9D6E8"/>
      </a:lt2>
      <a:accent1>
        <a:srgbClr val="4FD1B5"/>
      </a:accent1>
      <a:accent2>
        <a:srgbClr val="F6B94A"/>
      </a:accent2>
      <a:accent3>
        <a:srgbClr val="7AA7FF"/>
      </a:accent3>
      <a:accent4>
        <a:srgbClr val="FF7A8A"/>
      </a:accent4>
      <a:accent5>
        <a:srgbClr val="B08CFF"/>
      </a:accent5>
      <a:accent6>
        <a:srgbClr val="8FA3BF"/>
      </a:accent6>
      <a:hlink>
        <a:srgbClr val="7AA7FF"/>
      </a:hlink>
      <a:folHlink>
        <a:srgbClr val="B08CFF"/>
      </a:folHlink>
    </a:clrScheme>
    <a:fontScheme name="Marco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3 - Cadastro e edição</dc:title>
  <dc:subject>PptxGenJS Presentation</dc:subject>
  <dc:creator>Equipe Mentalista?</dc:creator>
  <cp:lastModifiedBy>Equipe Mentalista?</cp:lastModifiedBy>
  <cp:revision>1</cp:revision>
  <dcterms:created xsi:type="dcterms:W3CDTF">2026-10-22T01:55:55Z</dcterms:created>
  <dcterms:modified xsi:type="dcterms:W3CDTF">2026-10-22T01:55:55Z</dcterms:modified>
</cp:coreProperties>
</file>